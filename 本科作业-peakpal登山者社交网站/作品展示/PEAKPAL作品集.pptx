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96f75169941eb" /><Relationship Type="http://schemas.openxmlformats.org/officeDocument/2006/relationships/extended-properties" Target="/docProps/app.xml" Id="Rd706c67ae92e43b6" /><Relationship Type="http://schemas.openxmlformats.org/officeDocument/2006/relationships/officeDocument" Target="/ppt/presentation.xml" Id="R0915f8272c78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cba7562854ab6"/>
  </p:sldMasterIdLst>
  <p:notesMasterIdLst>
    <p:notesMasterId xmlns:r="http://schemas.openxmlformats.org/officeDocument/2006/relationships" r:id="R185ff265bd014c27"/>
  </p:notesMasterIdLst>
  <p:sldIdLst>
    <p:sldId xmlns:r="http://schemas.openxmlformats.org/officeDocument/2006/relationships" id="256" r:id="R170e96fb459f42fe"/>
    <p:sldId xmlns:r="http://schemas.openxmlformats.org/officeDocument/2006/relationships" id="257" r:id="Rd70c96059e3e4e4c"/>
    <p:sldId xmlns:r="http://schemas.openxmlformats.org/officeDocument/2006/relationships" id="258" r:id="R7acc27d0e58d4278"/>
    <p:sldId xmlns:r="http://schemas.openxmlformats.org/officeDocument/2006/relationships" id="259" r:id="R027945f096614c41"/>
    <p:sldId xmlns:r="http://schemas.openxmlformats.org/officeDocument/2006/relationships" id="260" r:id="R7438c10878b04da0"/>
    <p:sldId xmlns:r="http://schemas.openxmlformats.org/officeDocument/2006/relationships" id="261" r:id="R11d0bbd43701479b"/>
    <p:sldId xmlns:r="http://schemas.openxmlformats.org/officeDocument/2006/relationships" id="262" r:id="R32dd34dd5f294396"/>
    <p:sldId xmlns:r="http://schemas.openxmlformats.org/officeDocument/2006/relationships" id="263" r:id="R6336623ef51247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14f6ca8484509" /><Relationship Type="http://schemas.openxmlformats.org/officeDocument/2006/relationships/slideMaster" Target="/ppt/slideMasters/slideMaster1.xml" Id="Rbdccba7562854ab6" /><Relationship Type="http://schemas.openxmlformats.org/officeDocument/2006/relationships/notesMaster" Target="/ppt/notesMasters/notesMaster1.xml" Id="R185ff265bd014c27" /><Relationship Type="http://schemas.openxmlformats.org/officeDocument/2006/relationships/presProps" Target="/ppt/presProps.xml" Id="Rb4e6654feece40f2" /><Relationship Type="http://schemas.openxmlformats.org/officeDocument/2006/relationships/tableStyles" Target="/ppt/tableStyles.xml" Id="Rdf8fda4b431d49c9" /><Relationship Type="http://schemas.openxmlformats.org/officeDocument/2006/relationships/slide" Target="/ppt/slides/slide1.xml" Id="R170e96fb459f42fe" /><Relationship Type="http://schemas.openxmlformats.org/officeDocument/2006/relationships/slide" Target="/ppt/slides/slide2.xml" Id="Rd70c96059e3e4e4c" /><Relationship Type="http://schemas.openxmlformats.org/officeDocument/2006/relationships/slide" Target="/ppt/slides/slide3.xml" Id="R7acc27d0e58d4278" /><Relationship Type="http://schemas.openxmlformats.org/officeDocument/2006/relationships/slide" Target="/ppt/slides/slide4.xml" Id="R027945f096614c41" /><Relationship Type="http://schemas.openxmlformats.org/officeDocument/2006/relationships/slide" Target="/ppt/slides/slide5.xml" Id="R7438c10878b04da0" /><Relationship Type="http://schemas.openxmlformats.org/officeDocument/2006/relationships/slide" Target="/ppt/slides/slide6.xml" Id="R11d0bbd43701479b" /><Relationship Type="http://schemas.openxmlformats.org/officeDocument/2006/relationships/slide" Target="/ppt/slides/slide7.xml" Id="R32dd34dd5f294396" /><Relationship Type="http://schemas.openxmlformats.org/officeDocument/2006/relationships/slide" Target="/ppt/slides/slide8.xml" Id="R6336623ef51247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26d044e6e140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f3c928b16b4d9e" /><Relationship Type="http://schemas.openxmlformats.org/officeDocument/2006/relationships/notesMaster" Target="/ppt/notesMasters/notesMaster1.xml" Id="Rfc0dbe7465ea49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3fbfc728544780" /><Relationship Type="http://schemas.openxmlformats.org/officeDocument/2006/relationships/notesMaster" Target="/ppt/notesMasters/notesMaster1.xml" Id="R2eab7efb9889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55b1499a4a4e84" /><Relationship Type="http://schemas.openxmlformats.org/officeDocument/2006/relationships/notesMaster" Target="/ppt/notesMasters/notesMaster1.xml" Id="R2cc746bbd32440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eaac6f21e4a80" /><Relationship Type="http://schemas.openxmlformats.org/officeDocument/2006/relationships/notesMaster" Target="/ppt/notesMasters/notesMaster1.xml" Id="Radeb43fa2db14b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83d06a89984e7d" /><Relationship Type="http://schemas.openxmlformats.org/officeDocument/2006/relationships/notesMaster" Target="/ppt/notesMasters/notesMaster1.xml" Id="R83a588deae7d40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2b1a809e35463e" /><Relationship Type="http://schemas.openxmlformats.org/officeDocument/2006/relationships/notesMaster" Target="/ppt/notesMasters/notesMaster1.xml" Id="R15939b84ec2b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7502296a0842fe" /><Relationship Type="http://schemas.openxmlformats.org/officeDocument/2006/relationships/notesMaster" Target="/ppt/notesMasters/notesMaster1.xml" Id="R242f7c450bb64a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519a84642049a8" /><Relationship Type="http://schemas.openxmlformats.org/officeDocument/2006/relationships/notesMaster" Target="/ppt/notesMasters/notesMaster1.xml" Id="R39873506fb7346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首页来自 PEAKPAL 实际网页；课程设计的功能介绍，未包含用户研究或商业效果结论。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页面素材：本地 PEAKPAL 网页的实际截图；原始设计参考用户提供的 Figma 文件 https://www.figma.com/design/0m8klx7ZsQuGsBWmUaTpnT/PEAKPAL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页面素材：本地 PEAKPAL 网页的实际截图；原始设计参考用户提供的 Figma 文件 https://www.figma.com/design/0m8klx7ZsQuGsBWmUaTpnT/PEAKPAL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页面素材：本地 PEAKPAL 网页的实际截图；原始设计参考用户提供的 Figma 文件 https://www.figma.com/design/0m8klx7ZsQuGsBWmUaTpnT/PEAKPAL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页面素材：本地 PEAKPAL 网页的实际截图；原始设计参考用户提供的 Figma 文件 https://www.figma.com/design/0m8klx7ZsQuGsBWmUaTpnT/PEAKPAL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页面素材：本地 PEAKPAL 网页的实际截图；原始设计参考用户提供的 Figma 文件 https://www.figma.com/design/0m8klx7ZsQuGsBWmUaTpnT/PEAKPAL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页面素材：本地 PEAKPAL 网页的实际截图；原始设计参考用户提供的 Figma 文件 https://www.figma.com/design/0m8klx7ZsQuGsBWmUaTpnT/PEAKPAL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页面素材：本地 PEAKPAL 网页的实际截图；原始设计参考用户提供的 Figma 文件 https://www.figma.com/design/0m8klx7ZsQuGsBWmUaTpnT/PEAKPAL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e3034f3ba4a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2551b62994e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8d4955d7d4e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cdf0d4bc843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bf01cece649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c17b959a8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FB6403-3392-45D3-8215-E9B082F6A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F67A3E-0D33-42AC-A7A9-D00652EAE8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BD707D-38F5-445B-94C9-AC66B4726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A903DE-2A30-4563-8205-6AC4AE1F7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96ED59-6FA0-4329-A387-F30475D0E5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BA2C65-8D3D-4E37-966D-234F108DA8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A250B6-6A2A-4B64-AEE3-7C41649C1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5135CA-AE26-47A3-930D-67F211848C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05DF11-E508-433D-80F6-115C12E553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38054C-2F8F-44AB-8489-4E261863CC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e8c02942b4857" /><Relationship Type="http://schemas.openxmlformats.org/officeDocument/2006/relationships/slideLayout" Target="/ppt/slideLayouts/slideLayout1.xml" Id="R53e751825f4e4d3b" /><Relationship Type="http://schemas.openxmlformats.org/officeDocument/2006/relationships/slideLayout" Target="/ppt/slideLayouts/slideLayout2.xml" Id="R70d2e2a240de42b2" /><Relationship Type="http://schemas.openxmlformats.org/officeDocument/2006/relationships/slideLayout" Target="/ppt/slideLayouts/slideLayout3.xml" Id="R4b40ce5b55cf47d3" /><Relationship Type="http://schemas.openxmlformats.org/officeDocument/2006/relationships/slideLayout" Target="/ppt/slideLayouts/slideLayout4.xml" Id="R7d99e6decb2e4ad8" /><Relationship Type="http://schemas.openxmlformats.org/officeDocument/2006/relationships/slideLayout" Target="/ppt/slideLayouts/slideLayout5.xml" Id="R597219408f724c98" /><Relationship Type="http://schemas.openxmlformats.org/officeDocument/2006/relationships/slideLayout" Target="/ppt/slideLayouts/slideLayout6.xml" Id="Rafd159c1deee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751825f4e4d3b"/>
    <p:sldLayoutId xmlns:r="http://schemas.openxmlformats.org/officeDocument/2006/relationships" id="2147483650" r:id="R70d2e2a240de42b2"/>
    <p:sldLayoutId xmlns:r="http://schemas.openxmlformats.org/officeDocument/2006/relationships" id="2147483651" r:id="R4b40ce5b55cf47d3"/>
    <p:sldLayoutId xmlns:r="http://schemas.openxmlformats.org/officeDocument/2006/relationships" id="2147483652" r:id="R7d99e6decb2e4ad8"/>
    <p:sldLayoutId xmlns:r="http://schemas.openxmlformats.org/officeDocument/2006/relationships" id="2147483653" r:id="R597219408f724c98"/>
    <p:sldLayoutId xmlns:r="http://schemas.openxmlformats.org/officeDocument/2006/relationships" id="2147483654" r:id="Rafd159c1deee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b2d11ae594627" /><Relationship Type="http://schemas.openxmlformats.org/officeDocument/2006/relationships/image" Target="/ppt/media/image.png" Id="Rafde78c148704d05" /><Relationship Type="http://schemas.openxmlformats.org/officeDocument/2006/relationships/notesSlide" Target="/ppt/notesSlides/notesSlide1.xml" Id="R871287be184b44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a3df7c86d4cce" /><Relationship Type="http://schemas.openxmlformats.org/officeDocument/2006/relationships/image" Target="/ppt/media/image2.png" Id="R16a8e4d75ead4d8f" /><Relationship Type="http://schemas.openxmlformats.org/officeDocument/2006/relationships/image" Target="/ppt/media/image3.png" Id="R001c572c639f431f" /><Relationship Type="http://schemas.openxmlformats.org/officeDocument/2006/relationships/image" Target="/ppt/media/image4.png" Id="R19473f80def74b59" /><Relationship Type="http://schemas.openxmlformats.org/officeDocument/2006/relationships/notesSlide" Target="/ppt/notesSlides/notesSlide2.xml" Id="Rc39853eb81754f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940b9122c467b" /><Relationship Type="http://schemas.openxmlformats.org/officeDocument/2006/relationships/image" Target="/ppt/media/image5.png" Id="Re56bb4043dae4d8d" /><Relationship Type="http://schemas.openxmlformats.org/officeDocument/2006/relationships/image" Target="/ppt/media/image6.png" Id="R909ed6a143d54e81" /><Relationship Type="http://schemas.openxmlformats.org/officeDocument/2006/relationships/notesSlide" Target="/ppt/notesSlides/notesSlide3.xml" Id="R4274b8d1552247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6652bef4d4a07" /><Relationship Type="http://schemas.openxmlformats.org/officeDocument/2006/relationships/image" Target="/ppt/media/image7.png" Id="R0a1708c6b3224d14" /><Relationship Type="http://schemas.openxmlformats.org/officeDocument/2006/relationships/image" Target="/ppt/media/image8.png" Id="R636cf1df5e04405e" /><Relationship Type="http://schemas.openxmlformats.org/officeDocument/2006/relationships/image" Target="/ppt/media/image9.png" Id="R3802cd4c8c4e422d" /><Relationship Type="http://schemas.openxmlformats.org/officeDocument/2006/relationships/notesSlide" Target="/ppt/notesSlides/notesSlide4.xml" Id="R3a8da4013f0449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45b8f5d7a466b" /><Relationship Type="http://schemas.openxmlformats.org/officeDocument/2006/relationships/image" Target="/ppt/media/image10.png" Id="R53f4eed500ec496a" /><Relationship Type="http://schemas.openxmlformats.org/officeDocument/2006/relationships/image" Target="/ppt/media/image11.png" Id="Rd7e5686179514d4d" /><Relationship Type="http://schemas.openxmlformats.org/officeDocument/2006/relationships/notesSlide" Target="/ppt/notesSlides/notesSlide5.xml" Id="R0107093b018a4e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85b0646bf47e5" /><Relationship Type="http://schemas.openxmlformats.org/officeDocument/2006/relationships/image" Target="/ppt/media/image12.png" Id="Rdc578858527741d0" /><Relationship Type="http://schemas.openxmlformats.org/officeDocument/2006/relationships/image" Target="/ppt/media/image13.png" Id="R3b25c7c88fac4a12" /><Relationship Type="http://schemas.openxmlformats.org/officeDocument/2006/relationships/notesSlide" Target="/ppt/notesSlides/notesSlide6.xml" Id="R7d7048d8959042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23f0357d74b0c" /><Relationship Type="http://schemas.openxmlformats.org/officeDocument/2006/relationships/image" Target="/ppt/media/image14.png" Id="R2abd28a512244047" /><Relationship Type="http://schemas.openxmlformats.org/officeDocument/2006/relationships/image" Target="/ppt/media/image15.png" Id="R625d8333c48144c7" /><Relationship Type="http://schemas.openxmlformats.org/officeDocument/2006/relationships/image" Target="/ppt/media/image16.png" Id="Ra98b7be79fae43d2" /><Relationship Type="http://schemas.openxmlformats.org/officeDocument/2006/relationships/image" Target="/ppt/media/image17.png" Id="Re61b2fef9c31482c" /><Relationship Type="http://schemas.openxmlformats.org/officeDocument/2006/relationships/notesSlide" Target="/ppt/notesSlides/notesSlide7.xml" Id="R819d308efcbc45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a0439a1264d7f" /><Relationship Type="http://schemas.openxmlformats.org/officeDocument/2006/relationships/image" Target="/ppt/media/image18.png" Id="R4cd26c686f0c4dbe" /><Relationship Type="http://schemas.openxmlformats.org/officeDocument/2006/relationships/image" Target="/ppt/media/image19.png" Id="R4cca87c5b7f24e6a" /><Relationship Type="http://schemas.openxmlformats.org/officeDocument/2006/relationships/image" Target="/ppt/media/image20.png" Id="R98f815ac9aa0470b" /><Relationship Type="http://schemas.openxmlformats.org/officeDocument/2006/relationships/notesSlide" Target="/ppt/notesSlides/notesSlide8.xml" Id="Ref475a35c2324e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1EC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项目概览">
            <a:extLst xmlns:a="http://schemas.openxmlformats.org/drawingml/2006/main">
              <a:ext uri="{FF2B5EF4-FFF2-40B4-BE49-F238E27FC236}">
                <a16:creationId xmlns:a16="http://schemas.microsoft.com/office/drawing/2014/main" id="{6F946013-1C4B-4AA2-B4BA-894771D7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3375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2" name="PEAKPAL">
            <a:extLst xmlns:a="http://schemas.openxmlformats.org/drawingml/2006/main">
              <a:ext uri="{FF2B5EF4-FFF2-40B4-BE49-F238E27FC236}">
                <a16:creationId xmlns:a16="http://schemas.microsoft.com/office/drawing/2014/main" id="{F525C6CE-1AA0-456F-B39D-69461393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04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PEAKPAL</a:t>
            </a:r>
          </a:p>
        </p:txBody>
      </p:sp>
      <p:sp>
        <p:nvSpPr>
          <p:cNvPr id="3" name="登山社交与出行服务">
            <a:extLst xmlns:a="http://schemas.openxmlformats.org/drawingml/2006/main">
              <a:ext uri="{FF2B5EF4-FFF2-40B4-BE49-F238E27FC236}">
                <a16:creationId xmlns:a16="http://schemas.microsoft.com/office/drawing/2014/main" id="{6FC831BF-9D99-4C9E-A730-B2810F9F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573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登山社交与出行服务</a:t>
            </a:r>
          </a:p>
        </p:txBody>
      </p:sp>
      <p:sp>
        <p:nvSpPr>
          <p:cNvPr id="4" name="网站围绕登山结伴展开，包含伙伴配对、社区">
            <a:extLst xmlns:a="http://schemas.openxmlformats.org/drawingml/2006/main">
              <a:ext uri="{FF2B5EF4-FFF2-40B4-BE49-F238E27FC236}">
                <a16:creationId xmlns:a16="http://schemas.microsoft.com/office/drawing/2014/main" id="{D7E036F3-29D5-4B29-8002-2626B8F3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71725"/>
            <a:ext cx="27432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网站围绕登山结伴展开，包含伙伴配对、社区交流、营地预约和山峰观测四个模块。用户可以填写登山经历与兴趣，浏览伙伴资料并联系对方，再整理行程和装备、挑选营地、了解目的地情况。首页以四个服务入口组织内容，个人主页承接后续的沟通与准备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8A991-9E91-42CE-BD33-C4D394511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e78c148704d05"/>
          <a:stretch xmlns:a="http://schemas.openxmlformats.org/drawingml/2006/main"/>
        </p:blipFill>
        <p:spPr>
          <a:xfrm xmlns:a="http://schemas.openxmlformats.org/drawingml/2006/main">
            <a:off x="3409950" y="396180"/>
            <a:ext cx="8439150" cy="6065639"/>
          </a:xfrm>
          <a:prstGeom xmlns:a="http://schemas.openxmlformats.org/drawingml/2006/main" prst="roundRect">
            <a:avLst>
              <a:gd name="adj" fmla="val 2198"/>
            </a:avLst>
          </a:prstGeom>
        </p:spPr>
      </p:pic>
    </p:spTree>
    <p:extLst>
      <p:ext uri="{BB962C8B-B14F-4D97-AF65-F5344CB8AC3E}">
        <p14:creationId xmlns:p14="http://schemas.microsoft.com/office/powerpoint/2010/main" val="1142208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资料设置">
            <a:extLst xmlns:a="http://schemas.openxmlformats.org/drawingml/2006/main">
              <a:ext uri="{FF2B5EF4-FFF2-40B4-BE49-F238E27FC236}">
                <a16:creationId xmlns:a16="http://schemas.microsoft.com/office/drawing/2014/main" id="{5D3A747F-EA82-4AB0-ACB6-326D374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资料设置</a:t>
            </a:r>
          </a:p>
        </p:txBody>
      </p:sp>
      <p:sp>
        <p:nvSpPr>
          <p:cNvPr id="2" name="注册、须知与个人信息">
            <a:extLst xmlns:a="http://schemas.openxmlformats.org/drawingml/2006/main">
              <a:ext uri="{FF2B5EF4-FFF2-40B4-BE49-F238E27FC236}">
                <a16:creationId xmlns:a16="http://schemas.microsoft.com/office/drawing/2014/main" id="{926BCDEF-87F4-4879-9830-3F81FA64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注册、须知与个人信息</a:t>
            </a:r>
          </a:p>
        </p:txBody>
      </p:sp>
      <p:sp>
        <p:nvSpPr>
          <p:cNvPr id="3" name="注册后进入使用须知，再填写基本资料与登山">
            <a:extLst xmlns:a="http://schemas.openxmlformats.org/drawingml/2006/main">
              <a:ext uri="{FF2B5EF4-FFF2-40B4-BE49-F238E27FC236}">
                <a16:creationId xmlns:a16="http://schemas.microsoft.com/office/drawing/2014/main" id="{17F80A43-1676-41ED-AA71-668F1698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"/>
            <a:ext cx="8372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注册后进入使用须知，再填写基本资料与登山偏好，最后选择个人照片。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资料将用于伙伴浏览和后续交流，用户也可以从配对页面返回修改。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3E20-F8F9-4110-9472-A3363D770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8e4d75ead4d8f"/>
          <a:stretch xmlns:a="http://schemas.openxmlformats.org/drawingml/2006/main"/>
        </p:blipFill>
        <p:spPr>
          <a:xfrm xmlns:a="http://schemas.openxmlformats.org/drawingml/2006/main">
            <a:off x="342900" y="1382200"/>
            <a:ext cx="2400300" cy="2064774"/>
          </a:xfrm>
          <a:prstGeom xmlns:a="http://schemas.openxmlformats.org/drawingml/2006/main" prst="roundRect">
            <a:avLst>
              <a:gd name="adj" fmla="val 6458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F731A-065A-4441-ACC6-FD2094A3D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c572c639f431f"/>
          <a:stretch xmlns:a="http://schemas.openxmlformats.org/drawingml/2006/main"/>
        </p:blipFill>
        <p:spPr>
          <a:xfrm xmlns:a="http://schemas.openxmlformats.org/drawingml/2006/main">
            <a:off x="426526" y="3571875"/>
            <a:ext cx="4080898" cy="30670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27A87-F7B7-4EFD-ACCF-A658E6511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73f80def74b59"/>
          <a:stretch xmlns:a="http://schemas.openxmlformats.org/drawingml/2006/main"/>
        </p:blipFill>
        <p:spPr>
          <a:xfrm xmlns:a="http://schemas.openxmlformats.org/drawingml/2006/main">
            <a:off x="4857750" y="1382807"/>
            <a:ext cx="6991350" cy="5254436"/>
          </a:xfrm>
          <a:prstGeom xmlns:a="http://schemas.openxmlformats.org/drawingml/2006/main" prst="roundRect">
            <a:avLst>
              <a:gd name="adj" fmla="val 2538"/>
            </a:avLst>
          </a:prstGeom>
        </p:spPr>
      </p:pic>
      <p:sp>
        <p:nvSpPr>
          <p:cNvPr id="7" name="注册与照片">
            <a:extLst xmlns:a="http://schemas.openxmlformats.org/drawingml/2006/main">
              <a:ext uri="{FF2B5EF4-FFF2-40B4-BE49-F238E27FC236}">
                <a16:creationId xmlns:a16="http://schemas.microsoft.com/office/drawing/2014/main" id="{D8CE8EFB-232B-44A4-B9F3-7BBADFE7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04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注册与照片</a:t>
            </a:r>
          </a:p>
        </p:txBody>
      </p:sp>
      <p:sp>
        <p:nvSpPr>
          <p:cNvPr id="8" name="注册并阅读须知后完善资料。个人照片单独设">
            <a:extLst xmlns:a="http://schemas.openxmlformats.org/drawingml/2006/main">
              <a:ext uri="{FF2B5EF4-FFF2-40B4-BE49-F238E27FC236}">
                <a16:creationId xmlns:a16="http://schemas.microsoft.com/office/drawing/2014/main" id="{263AC06B-004D-4DF3-8E94-BA5427F8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1619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注册并阅读须知后完善资料。个人照片单独设置，也可以保留默认插画。</a:t>
            </a:r>
          </a:p>
        </p:txBody>
      </p:sp>
    </p:spTree>
    <p:extLst>
      <p:ext uri="{BB962C8B-B14F-4D97-AF65-F5344CB8AC3E}">
        <p14:creationId xmlns:p14="http://schemas.microsoft.com/office/powerpoint/2010/main" val="2112373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伙伴配对">
            <a:extLst xmlns:a="http://schemas.openxmlformats.org/drawingml/2006/main">
              <a:ext uri="{FF2B5EF4-FFF2-40B4-BE49-F238E27FC236}">
                <a16:creationId xmlns:a16="http://schemas.microsoft.com/office/drawing/2014/main" id="{A9CDFB70-77CC-4817-AE8F-47602417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伙伴配对</a:t>
            </a:r>
          </a:p>
        </p:txBody>
      </p:sp>
      <p:sp>
        <p:nvSpPr>
          <p:cNvPr id="2" name="伙伴资料与联系入口">
            <a:extLst xmlns:a="http://schemas.openxmlformats.org/drawingml/2006/main">
              <a:ext uri="{FF2B5EF4-FFF2-40B4-BE49-F238E27FC236}">
                <a16:creationId xmlns:a16="http://schemas.microsoft.com/office/drawing/2014/main" id="{B3F6C020-907D-490F-87FD-5802F75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伙伴资料与联系入口</a:t>
            </a:r>
          </a:p>
        </p:txBody>
      </p:sp>
      <p:sp>
        <p:nvSpPr>
          <p:cNvPr id="3" name="配对页按卡片展示伙伴的经历、目的地偏好和">
            <a:extLst xmlns:a="http://schemas.openxmlformats.org/drawingml/2006/main">
              <a:ext uri="{FF2B5EF4-FFF2-40B4-BE49-F238E27FC236}">
                <a16:creationId xmlns:a16="http://schemas.microsoft.com/office/drawing/2014/main" id="{1A22ECC2-0CE1-436A-8E98-8D22A9B3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"/>
            <a:ext cx="8372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配对页按卡片展示伙伴的经历、目的地偏好和兴趣，辅助用户判断是否合适。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点击“联系”进入对应聊天，围绕路线、时间与同行节奏进一步沟通。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07154-2DF0-4A05-912A-42910314C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bb4043dae4d8d"/>
          <a:stretch xmlns:a="http://schemas.openxmlformats.org/drawingml/2006/main"/>
        </p:blipFill>
        <p:spPr>
          <a:xfrm xmlns:a="http://schemas.openxmlformats.org/drawingml/2006/main">
            <a:off x="342900" y="1401634"/>
            <a:ext cx="5657850" cy="3330831"/>
          </a:xfrm>
          <a:prstGeom xmlns:a="http://schemas.openxmlformats.org/drawingml/2006/main" prst="roundRect">
            <a:avLst>
              <a:gd name="adj" fmla="val 4004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31E3C-36F0-47BA-95BE-8184D1882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ed6a143d54e81"/>
          <a:stretch xmlns:a="http://schemas.openxmlformats.org/drawingml/2006/main"/>
        </p:blipFill>
        <p:spPr>
          <a:xfrm xmlns:a="http://schemas.openxmlformats.org/drawingml/2006/main">
            <a:off x="6248400" y="1401901"/>
            <a:ext cx="5600700" cy="3377922"/>
          </a:xfrm>
          <a:prstGeom xmlns:a="http://schemas.openxmlformats.org/drawingml/2006/main" prst="roundRect">
            <a:avLst>
              <a:gd name="adj" fmla="val 3948"/>
            </a:avLst>
          </a:prstGeom>
        </p:spPr>
      </p:pic>
      <p:sp>
        <p:nvSpPr>
          <p:cNvPr id="6" name="伙伴资料">
            <a:extLst xmlns:a="http://schemas.openxmlformats.org/drawingml/2006/main">
              <a:ext uri="{FF2B5EF4-FFF2-40B4-BE49-F238E27FC236}">
                <a16:creationId xmlns:a16="http://schemas.microsoft.com/office/drawing/2014/main" id="{9998E8FE-C606-458D-B5F4-3FD79DA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03872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伙伴资料</a:t>
            </a:r>
          </a:p>
        </p:txBody>
      </p:sp>
      <p:sp>
        <p:nvSpPr>
          <p:cNvPr id="7" name="姓名与经历位于卡片左侧；居住地、登山类型">
            <a:extLst xmlns:a="http://schemas.openxmlformats.org/drawingml/2006/main">
              <a:ext uri="{FF2B5EF4-FFF2-40B4-BE49-F238E27FC236}">
                <a16:creationId xmlns:a16="http://schemas.microsoft.com/office/drawing/2014/main" id="{9547ACCB-8B1E-4910-BE52-E24C723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24500"/>
            <a:ext cx="552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姓名与经历位于卡片左侧；居住地、登山类型、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目的地和个人说明集中在右侧。联系按钮紧邻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基础资料，阅读后可以直接发起交流。</a:t>
            </a:r>
          </a:p>
        </p:txBody>
      </p:sp>
      <p:sp>
        <p:nvSpPr>
          <p:cNvPr id="8" name="聊天沟通">
            <a:extLst xmlns:a="http://schemas.openxmlformats.org/drawingml/2006/main">
              <a:ext uri="{FF2B5EF4-FFF2-40B4-BE49-F238E27FC236}">
                <a16:creationId xmlns:a16="http://schemas.microsoft.com/office/drawing/2014/main" id="{DEEBB74E-FB37-483F-BC28-70B72823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387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聊天沟通</a:t>
            </a:r>
          </a:p>
        </p:txBody>
      </p:sp>
      <p:sp>
        <p:nvSpPr>
          <p:cNvPr id="9" name="聊天与联系人并排显示，输入框固定在会话下">
            <a:extLst xmlns:a="http://schemas.openxmlformats.org/drawingml/2006/main">
              <a:ext uri="{FF2B5EF4-FFF2-40B4-BE49-F238E27FC236}">
                <a16:creationId xmlns:a16="http://schemas.microsoft.com/office/drawing/2014/main" id="{81D6D424-2ADC-4444-88D3-01B0DCEC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4500"/>
            <a:ext cx="560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聊天与联系人并排显示，输入框固定在会话下方。旁侧保留留言板与个人主页入口，让一次配对能够继续到行程讨论，而不止停留在资料浏览。</a:t>
            </a:r>
          </a:p>
        </p:txBody>
      </p:sp>
    </p:spTree>
    <p:extLst>
      <p:ext uri="{BB962C8B-B14F-4D97-AF65-F5344CB8AC3E}">
        <p14:creationId xmlns:p14="http://schemas.microsoft.com/office/powerpoint/2010/main" val="1585147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个人中心">
            <a:extLst xmlns:a="http://schemas.openxmlformats.org/drawingml/2006/main">
              <a:ext uri="{FF2B5EF4-FFF2-40B4-BE49-F238E27FC236}">
                <a16:creationId xmlns:a16="http://schemas.microsoft.com/office/drawing/2014/main" id="{D7A5D5C2-4B3B-49A5-9322-4A3C7656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个人中心</a:t>
            </a:r>
          </a:p>
        </p:txBody>
      </p:sp>
      <p:sp>
        <p:nvSpPr>
          <p:cNvPr id="2" name="联系人、行程与装备">
            <a:extLst xmlns:a="http://schemas.openxmlformats.org/drawingml/2006/main">
              <a:ext uri="{FF2B5EF4-FFF2-40B4-BE49-F238E27FC236}">
                <a16:creationId xmlns:a16="http://schemas.microsoft.com/office/drawing/2014/main" id="{420AC872-3860-4EF8-BB93-1FD7A5F1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联系人、行程与装备</a:t>
            </a:r>
          </a:p>
        </p:txBody>
      </p:sp>
      <p:sp>
        <p:nvSpPr>
          <p:cNvPr id="3" name="个人主页把结伴、联系人、留言、历史轨迹和">
            <a:extLst xmlns:a="http://schemas.openxmlformats.org/drawingml/2006/main">
              <a:ext uri="{FF2B5EF4-FFF2-40B4-BE49-F238E27FC236}">
                <a16:creationId xmlns:a16="http://schemas.microsoft.com/office/drawing/2014/main" id="{927B8405-022C-4209-BD15-5C38D228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"/>
            <a:ext cx="8372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个人主页把结伴、联系人、留言、历史轨迹和出行准备放在同一页面。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用户可以记录目的地与日期，再查看装备清单、收藏营地和已保存的预约。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8EB89-ADE7-4E65-8CC9-CB3A72FD4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708c6b3224d14"/>
          <a:stretch xmlns:a="http://schemas.openxmlformats.org/drawingml/2006/main"/>
        </p:blipFill>
        <p:spPr>
          <a:xfrm xmlns:a="http://schemas.openxmlformats.org/drawingml/2006/main">
            <a:off x="345228" y="1381125"/>
            <a:ext cx="6853344" cy="5257800"/>
          </a:xfrm>
          <a:prstGeom xmlns:a="http://schemas.openxmlformats.org/drawingml/2006/main" prst="roundRect">
            <a:avLst>
              <a:gd name="adj" fmla="val 2536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97316-2743-4F61-AF5A-DF714C907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cf1df5e04405e"/>
          <a:stretch xmlns:a="http://schemas.openxmlformats.org/drawingml/2006/main"/>
        </p:blipFill>
        <p:spPr>
          <a:xfrm xmlns:a="http://schemas.openxmlformats.org/drawingml/2006/main">
            <a:off x="7467600" y="1384515"/>
            <a:ext cx="2828925" cy="2612595"/>
          </a:xfrm>
          <a:prstGeom xmlns:a="http://schemas.openxmlformats.org/drawingml/2006/main" prst="roundRect">
            <a:avLst>
              <a:gd name="adj" fmla="val 5104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199F1-EE17-48E0-AA6A-FCC9A90ED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2cd4c8c4e422d"/>
          <a:stretch xmlns:a="http://schemas.openxmlformats.org/drawingml/2006/main"/>
        </p:blipFill>
        <p:spPr>
          <a:xfrm xmlns:a="http://schemas.openxmlformats.org/drawingml/2006/main">
            <a:off x="7467600" y="4201646"/>
            <a:ext cx="4381500" cy="2474259"/>
          </a:xfrm>
          <a:prstGeom xmlns:a="http://schemas.openxmlformats.org/drawingml/2006/main" prst="roundRect">
            <a:avLst>
              <a:gd name="adj" fmla="val 5389"/>
            </a:avLst>
          </a:prstGeom>
        </p:spPr>
      </p:pic>
      <p:sp>
        <p:nvSpPr>
          <p:cNvPr id="7" name="行程规划">
            <a:extLst xmlns:a="http://schemas.openxmlformats.org/drawingml/2006/main">
              <a:ext uri="{FF2B5EF4-FFF2-40B4-BE49-F238E27FC236}">
                <a16:creationId xmlns:a16="http://schemas.microsoft.com/office/drawing/2014/main" id="{14616ECC-17F9-47E9-A8B6-4488D24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5257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行程规划</a:t>
            </a:r>
          </a:p>
        </p:txBody>
      </p:sp>
      <p:sp>
        <p:nvSpPr>
          <p:cNvPr id="8" name="填写目的地、出发日期与计划，保存后回到主">
            <a:extLst xmlns:a="http://schemas.openxmlformats.org/drawingml/2006/main">
              <a:ext uri="{FF2B5EF4-FFF2-40B4-BE49-F238E27FC236}">
                <a16:creationId xmlns:a16="http://schemas.microsoft.com/office/drawing/2014/main" id="{E00F5B9C-535D-4740-A5DE-96C8A0C4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00250"/>
            <a:ext cx="1371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填写目的地、出发日期与计划，保存后回到主页查看。</a:t>
            </a:r>
          </a:p>
        </p:txBody>
      </p:sp>
    </p:spTree>
    <p:extLst>
      <p:ext uri="{BB962C8B-B14F-4D97-AF65-F5344CB8AC3E}">
        <p14:creationId xmlns:p14="http://schemas.microsoft.com/office/powerpoint/2010/main" val="628182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社区交流">
            <a:extLst xmlns:a="http://schemas.openxmlformats.org/drawingml/2006/main">
              <a:ext uri="{FF2B5EF4-FFF2-40B4-BE49-F238E27FC236}">
                <a16:creationId xmlns:a16="http://schemas.microsoft.com/office/drawing/2014/main" id="{39366941-C88F-4E2E-B48D-0611EC48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社区交流</a:t>
            </a:r>
          </a:p>
        </p:txBody>
      </p:sp>
      <p:sp>
        <p:nvSpPr>
          <p:cNvPr id="2" name="活动介绍与路线讨论">
            <a:extLst xmlns:a="http://schemas.openxmlformats.org/drawingml/2006/main">
              <a:ext uri="{FF2B5EF4-FFF2-40B4-BE49-F238E27FC236}">
                <a16:creationId xmlns:a16="http://schemas.microsoft.com/office/drawing/2014/main" id="{9F81C19A-EDE3-4E6E-A23A-A95C3706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活动介绍与路线讨论</a:t>
            </a:r>
          </a:p>
        </p:txBody>
      </p:sp>
      <p:sp>
        <p:nvSpPr>
          <p:cNvPr id="3" name="社区主页分别介绍活动与交流内容，讨论页承">
            <a:extLst xmlns:a="http://schemas.openxmlformats.org/drawingml/2006/main">
              <a:ext uri="{FF2B5EF4-FFF2-40B4-BE49-F238E27FC236}">
                <a16:creationId xmlns:a16="http://schemas.microsoft.com/office/drawing/2014/main" id="{E085C254-D8EF-4050-9891-839E048B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"/>
            <a:ext cx="8372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社区主页分别介绍活动与交流内容，讨论页承接具体话题。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用户可以浏览路线求助、打开帖子回复，也能发布自己的路线与经验。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9598D-5D6D-46A9-B8D2-C9632EAD61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4eed500ec496a"/>
          <a:stretch xmlns:a="http://schemas.openxmlformats.org/drawingml/2006/main"/>
        </p:blipFill>
        <p:spPr>
          <a:xfrm xmlns:a="http://schemas.openxmlformats.org/drawingml/2006/main">
            <a:off x="343486" y="1381125"/>
            <a:ext cx="4837529" cy="5162550"/>
          </a:xfrm>
          <a:prstGeom xmlns:a="http://schemas.openxmlformats.org/drawingml/2006/main" prst="roundRect">
            <a:avLst>
              <a:gd name="adj" fmla="val 2757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681F1-7D7E-42AB-BE5B-E4F7964CA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686179514d4d"/>
          <a:stretch xmlns:a="http://schemas.openxmlformats.org/drawingml/2006/main"/>
        </p:blipFill>
        <p:spPr>
          <a:xfrm xmlns:a="http://schemas.openxmlformats.org/drawingml/2006/main">
            <a:off x="5410200" y="1383328"/>
            <a:ext cx="6438900" cy="4567595"/>
          </a:xfrm>
          <a:prstGeom xmlns:a="http://schemas.openxmlformats.org/drawingml/2006/main" prst="roundRect">
            <a:avLst>
              <a:gd name="adj" fmla="val 2919"/>
            </a:avLst>
          </a:prstGeom>
        </p:spPr>
      </p:pic>
      <p:sp>
        <p:nvSpPr>
          <p:cNvPr id="6" name="活动内容进入讨论，路线经验沉淀为帖子。社">
            <a:extLst xmlns:a="http://schemas.openxmlformats.org/drawingml/2006/main">
              <a:ext uri="{FF2B5EF4-FFF2-40B4-BE49-F238E27FC236}">
                <a16:creationId xmlns:a16="http://schemas.microsoft.com/office/drawing/2014/main" id="{E3FE7AA9-EBA6-4029-94FF-57E8362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53150"/>
            <a:ext cx="6400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活动内容进入讨论，路线经验沉淀为帖子。社区与配对保持独立入口，用户可以先阅读，也可以带着明确的同行需求发起交流。</a:t>
            </a:r>
          </a:p>
        </p:txBody>
      </p:sp>
    </p:spTree>
    <p:extLst>
      <p:ext uri="{BB962C8B-B14F-4D97-AF65-F5344CB8AC3E}">
        <p14:creationId xmlns:p14="http://schemas.microsoft.com/office/powerpoint/2010/main" val="161026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营地预约">
            <a:extLst xmlns:a="http://schemas.openxmlformats.org/drawingml/2006/main">
              <a:ext uri="{FF2B5EF4-FFF2-40B4-BE49-F238E27FC236}">
                <a16:creationId xmlns:a16="http://schemas.microsoft.com/office/drawing/2014/main" id="{48C3F984-36AE-44AE-9B75-01BEEA28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营地预约</a:t>
            </a:r>
          </a:p>
        </p:txBody>
      </p:sp>
      <p:sp>
        <p:nvSpPr>
          <p:cNvPr id="2" name="筛选、比较与详情">
            <a:extLst xmlns:a="http://schemas.openxmlformats.org/drawingml/2006/main">
              <a:ext uri="{FF2B5EF4-FFF2-40B4-BE49-F238E27FC236}">
                <a16:creationId xmlns:a16="http://schemas.microsoft.com/office/drawing/2014/main" id="{61849BDE-1845-4968-B215-49CECFC1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筛选、比较与详情</a:t>
            </a:r>
          </a:p>
        </p:txBody>
      </p:sp>
      <p:sp>
        <p:nvSpPr>
          <p:cNvPr id="3" name="营地列表支持按地点、人数和住宿类型筛选，">
            <a:extLst xmlns:a="http://schemas.openxmlformats.org/drawingml/2006/main">
              <a:ext uri="{FF2B5EF4-FFF2-40B4-BE49-F238E27FC236}">
                <a16:creationId xmlns:a16="http://schemas.microsoft.com/office/drawing/2014/main" id="{027A6756-0157-4D8A-B417-D7C46FB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"/>
            <a:ext cx="8372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营地列表支持按地点、人数和住宿类型筛选，并提供价格与评分排序。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详情页展示照片、位置、介绍和评价，支持收藏营地与填写模拟预约。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1A392-DECD-4EF5-8E1B-C23DA2E35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78858527741d0"/>
          <a:stretch xmlns:a="http://schemas.openxmlformats.org/drawingml/2006/main"/>
        </p:blipFill>
        <p:spPr>
          <a:xfrm xmlns:a="http://schemas.openxmlformats.org/drawingml/2006/main">
            <a:off x="342900" y="1383596"/>
            <a:ext cx="5600700" cy="4471809"/>
          </a:xfrm>
          <a:prstGeom xmlns:a="http://schemas.openxmlformats.org/drawingml/2006/main" prst="roundRect">
            <a:avLst>
              <a:gd name="adj" fmla="val 2982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4E9C2-80E7-4914-BE86-022D1D59C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5c7c88fac4a12"/>
          <a:stretch xmlns:a="http://schemas.openxmlformats.org/drawingml/2006/main"/>
        </p:blipFill>
        <p:spPr>
          <a:xfrm xmlns:a="http://schemas.openxmlformats.org/drawingml/2006/main">
            <a:off x="6191250" y="1381326"/>
            <a:ext cx="5657850" cy="4371573"/>
          </a:xfrm>
          <a:prstGeom xmlns:a="http://schemas.openxmlformats.org/drawingml/2006/main" prst="roundRect">
            <a:avLst>
              <a:gd name="adj" fmla="val 3050"/>
            </a:avLst>
          </a:prstGeom>
        </p:spPr>
      </p:pic>
      <p:sp>
        <p:nvSpPr>
          <p:cNvPr id="6" name="列表负责缩小范围，详情负责补充判断信息。">
            <a:extLst xmlns:a="http://schemas.openxmlformats.org/drawingml/2006/main">
              <a:ext uri="{FF2B5EF4-FFF2-40B4-BE49-F238E27FC236}">
                <a16:creationId xmlns:a16="http://schemas.microsoft.com/office/drawing/2014/main" id="{10058706-CFFF-4891-971E-A7ED841E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24575"/>
            <a:ext cx="1150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列表负责缩小范围，详情负责补充判断信息。筛选无结果时可以清除条件重新浏览；收藏与预约保存在个人主页，方便继续准备行程。</a:t>
            </a:r>
          </a:p>
        </p:txBody>
      </p:sp>
    </p:spTree>
    <p:extLst>
      <p:ext uri="{BB962C8B-B14F-4D97-AF65-F5344CB8AC3E}">
        <p14:creationId xmlns:p14="http://schemas.microsoft.com/office/powerpoint/2010/main" val="196286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山峰观测">
            <a:extLst xmlns:a="http://schemas.openxmlformats.org/drawingml/2006/main">
              <a:ext uri="{FF2B5EF4-FFF2-40B4-BE49-F238E27FC236}">
                <a16:creationId xmlns:a16="http://schemas.microsoft.com/office/drawing/2014/main" id="{0DD4391B-3532-4501-986F-87071D63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山峰观测</a:t>
            </a:r>
          </a:p>
        </p:txBody>
      </p:sp>
      <p:sp>
        <p:nvSpPr>
          <p:cNvPr id="2" name="山峰卡片、地图与建议">
            <a:extLst xmlns:a="http://schemas.openxmlformats.org/drawingml/2006/main">
              <a:ext uri="{FF2B5EF4-FFF2-40B4-BE49-F238E27FC236}">
                <a16:creationId xmlns:a16="http://schemas.microsoft.com/office/drawing/2014/main" id="{3490F68A-5F0E-4CE1-B0BD-90EE6029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山峰卡片、地图与建议</a:t>
            </a:r>
          </a:p>
        </p:txBody>
      </p:sp>
      <p:sp>
        <p:nvSpPr>
          <p:cNvPr id="3" name="山峰页面提供卡片和地图两种浏览方式，集中">
            <a:extLst xmlns:a="http://schemas.openxmlformats.org/drawingml/2006/main">
              <a:ext uri="{FF2B5EF4-FFF2-40B4-BE49-F238E27FC236}">
                <a16:creationId xmlns:a16="http://schemas.microsoft.com/office/drawing/2014/main" id="{8FC5E25B-3B59-4F5F-8ED8-865010A8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"/>
            <a:ext cx="8372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山峰页面提供卡片和地图两种浏览方式，集中展示目的地、点位与提示。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详情窗口补充图片和说明，下方的建议轮播用于阅读出发前的注意事项。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019CE-4EF0-43CD-B216-88550B5BA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d28a512244047"/>
          <a:stretch xmlns:a="http://schemas.openxmlformats.org/drawingml/2006/main"/>
        </p:blipFill>
        <p:spPr>
          <a:xfrm xmlns:a="http://schemas.openxmlformats.org/drawingml/2006/main">
            <a:off x="576516" y="1381125"/>
            <a:ext cx="7000369" cy="24003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A390E-8794-44D1-A503-575E0C4D81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d8333c48144c7"/>
          <a:stretch xmlns:a="http://schemas.openxmlformats.org/drawingml/2006/main"/>
        </p:blipFill>
        <p:spPr>
          <a:xfrm xmlns:a="http://schemas.openxmlformats.org/drawingml/2006/main">
            <a:off x="1827114" y="3971925"/>
            <a:ext cx="4499172" cy="2647950"/>
          </a:xfrm>
          <a:prstGeom xmlns:a="http://schemas.openxmlformats.org/drawingml/2006/main" prst="roundRect">
            <a:avLst>
              <a:gd name="adj" fmla="val 5036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DC504-80A7-41D6-82DF-2CBA5D6E4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b7be79fae43d2"/>
          <a:stretch xmlns:a="http://schemas.openxmlformats.org/drawingml/2006/main"/>
        </p:blipFill>
        <p:spPr>
          <a:xfrm xmlns:a="http://schemas.openxmlformats.org/drawingml/2006/main">
            <a:off x="8077200" y="1382078"/>
            <a:ext cx="3771900" cy="3960495"/>
          </a:xfrm>
          <a:prstGeom xmlns:a="http://schemas.openxmlformats.org/drawingml/2006/main" prst="roundRect">
            <a:avLst>
              <a:gd name="adj" fmla="val 3535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BABB2-CF75-4194-9D9C-F88F40F4A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b2fef9c31482c"/>
          <a:stretch xmlns:a="http://schemas.openxmlformats.org/drawingml/2006/main"/>
        </p:blipFill>
        <p:spPr>
          <a:xfrm xmlns:a="http://schemas.openxmlformats.org/drawingml/2006/main">
            <a:off x="8077200" y="5651302"/>
            <a:ext cx="3771900" cy="851297"/>
          </a:xfrm>
          <a:prstGeom xmlns:a="http://schemas.openxmlformats.org/drawingml/2006/main" prst="roundRect">
            <a:avLst>
              <a:gd name="adj" fmla="val 15664"/>
            </a:avLst>
          </a:prstGeom>
        </p:spPr>
      </p:pic>
    </p:spTree>
    <p:extLst>
      <p:ext uri="{BB962C8B-B14F-4D97-AF65-F5344CB8AC3E}">
        <p14:creationId xmlns:p14="http://schemas.microsoft.com/office/powerpoint/2010/main" val="449690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移动适配">
            <a:extLst xmlns:a="http://schemas.openxmlformats.org/drawingml/2006/main">
              <a:ext uri="{FF2B5EF4-FFF2-40B4-BE49-F238E27FC236}">
                <a16:creationId xmlns:a16="http://schemas.microsoft.com/office/drawing/2014/main" id="{07AEF22F-16AD-4BAD-AD63-20924054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14D5B"/>
                </a:solidFill>
                <a:latin typeface="Microsoft YaHei"/>
                <a:ea typeface="Microsoft YaHei"/>
                <a:cs typeface="Microsoft YaHei"/>
              </a:rPr>
              <a:t>移动适配</a:t>
            </a:r>
          </a:p>
        </p:txBody>
      </p:sp>
      <p:sp>
        <p:nvSpPr>
          <p:cNvPr id="2" name="首页、筛选与个人主页">
            <a:extLst xmlns:a="http://schemas.openxmlformats.org/drawingml/2006/main">
              <a:ext uri="{FF2B5EF4-FFF2-40B4-BE49-F238E27FC236}">
                <a16:creationId xmlns:a16="http://schemas.microsoft.com/office/drawing/2014/main" id="{9D054EE7-062D-41F9-A466-D5F2DAF2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1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首页、筛选与个人主页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9A013-A3C4-4B9D-974E-ABDAB07FA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26c686f0c4dbe"/>
          <a:stretch xmlns:a="http://schemas.openxmlformats.org/drawingml/2006/main"/>
        </p:blipFill>
        <p:spPr>
          <a:xfrm xmlns:a="http://schemas.openxmlformats.org/drawingml/2006/main">
            <a:off x="342990" y="1390650"/>
            <a:ext cx="2323919" cy="5029200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89833-86C8-4616-A495-8EA2FA8EB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a87c5b7f24e6a"/>
          <a:stretch xmlns:a="http://schemas.openxmlformats.org/drawingml/2006/main"/>
        </p:blipFill>
        <p:spPr>
          <a:xfrm xmlns:a="http://schemas.openxmlformats.org/drawingml/2006/main">
            <a:off x="2895690" y="1390650"/>
            <a:ext cx="2323919" cy="5029200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3CA1C-85EE-4863-B57F-433AB2FFC1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815ac9aa0470b"/>
          <a:stretch xmlns:a="http://schemas.openxmlformats.org/drawingml/2006/main"/>
        </p:blipFill>
        <p:spPr>
          <a:xfrm xmlns:a="http://schemas.openxmlformats.org/drawingml/2006/main">
            <a:off x="5448390" y="1390650"/>
            <a:ext cx="2323919" cy="5029200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sp>
        <p:nvSpPr>
          <p:cNvPr id="6" name="手机端保留与桌面端一致的导航与功能入口。">
            <a:extLst xmlns:a="http://schemas.openxmlformats.org/drawingml/2006/main">
              <a:ext uri="{FF2B5EF4-FFF2-40B4-BE49-F238E27FC236}">
                <a16:creationId xmlns:a16="http://schemas.microsoft.com/office/drawing/2014/main" id="{0B873F9F-7A5D-46EE-89F0-CB235F57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438275"/>
            <a:ext cx="36861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手机端保留与桌面端一致的导航与功能入口。首页卡片横向浏览，筛选条件分行排列，个人主页按纵向顺序展示联系人与出行信息。页面通过调整布局适应小屏幕，避免把桌面界面整体缩小。</a:t>
            </a:r>
          </a:p>
        </p:txBody>
      </p:sp>
      <p:sp>
        <p:nvSpPr>
          <p:cNvPr id="7" name="网页已实现资料填写、伙伴联系、聊天输入、">
            <a:extLst xmlns:a="http://schemas.openxmlformats.org/drawingml/2006/main">
              <a:ext uri="{FF2B5EF4-FFF2-40B4-BE49-F238E27FC236}">
                <a16:creationId xmlns:a16="http://schemas.microsoft.com/office/drawing/2014/main" id="{778387D5-9D4C-46C2-9D56-890F979F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33825"/>
            <a:ext cx="36861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网页已实现资料填写、伙伴联系、聊天输入、营地筛选、收藏、模拟预约与行程保存。当前版本用于体验完整流程，信息和操作记录保存在本机。</a:t>
            </a:r>
          </a:p>
        </p:txBody>
      </p:sp>
      <p:sp>
        <p:nvSpPr>
          <p:cNvPr id="8" name="独立项目 赵言怡">
            <a:extLst xmlns:a="http://schemas.openxmlformats.org/drawingml/2006/main">
              <a:ext uri="{FF2B5EF4-FFF2-40B4-BE49-F238E27FC236}">
                <a16:creationId xmlns:a16="http://schemas.microsoft.com/office/drawing/2014/main" id="{53F78DFA-4B08-4A70-9AEF-8107DDF5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6315075"/>
            <a:ext cx="3686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87479"/>
                </a:solidFill>
                <a:latin typeface="Microsoft YaHei"/>
                <a:ea typeface="Microsoft YaHei"/>
                <a:cs typeface="Microsoft YaHei"/>
              </a:rPr>
              <a:t>独立项目 赵言怡</a:t>
            </a:r>
          </a:p>
        </p:txBody>
      </p:sp>
    </p:spTree>
    <p:extLst>
      <p:ext uri="{BB962C8B-B14F-4D97-AF65-F5344CB8AC3E}">
        <p14:creationId xmlns:p14="http://schemas.microsoft.com/office/powerpoint/2010/main" val="754188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2026-10-11T11:36:52.8150000Z</dcterms:created>
  <dcterms:modified xsi:type="dcterms:W3CDTF">2026-10-11T11:36:52.8150000Z</dcterms:modified>
</coreProperties>
</file>