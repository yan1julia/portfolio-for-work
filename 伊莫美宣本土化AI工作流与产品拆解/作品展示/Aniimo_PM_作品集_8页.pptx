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b121c51e7f4b2a" /><Relationship Type="http://schemas.openxmlformats.org/officeDocument/2006/relationships/extended-properties" Target="/docProps/app.xml" Id="Rf86d3d2a89e647c8" /><Relationship Type="http://schemas.openxmlformats.org/officeDocument/2006/relationships/officeDocument" Target="/ppt/presentation.xml" Id="R1ac575d1c1f34d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c6342bb9ad4e31"/>
  </p:sldMasterIdLst>
  <p:notesMasterIdLst>
    <p:notesMasterId xmlns:r="http://schemas.openxmlformats.org/officeDocument/2006/relationships" r:id="Rb33a0ef4fddc4367"/>
  </p:notesMasterIdLst>
  <p:sldIdLst>
    <p:sldId xmlns:r="http://schemas.openxmlformats.org/officeDocument/2006/relationships" id="256" r:id="Ref350b59c7d24030"/>
    <p:sldId xmlns:r="http://schemas.openxmlformats.org/officeDocument/2006/relationships" id="257" r:id="Rd2af0357fd73445a"/>
    <p:sldId xmlns:r="http://schemas.openxmlformats.org/officeDocument/2006/relationships" id="258" r:id="R0a30e9c6ea604a08"/>
    <p:sldId xmlns:r="http://schemas.openxmlformats.org/officeDocument/2006/relationships" id="259" r:id="R1c7bcadfbf244426"/>
    <p:sldId xmlns:r="http://schemas.openxmlformats.org/officeDocument/2006/relationships" id="260" r:id="Re426123ecdbc4ea3"/>
    <p:sldId xmlns:r="http://schemas.openxmlformats.org/officeDocument/2006/relationships" id="261" r:id="R1f2fda3b89bb4b55"/>
    <p:sldId xmlns:r="http://schemas.openxmlformats.org/officeDocument/2006/relationships" id="262" r:id="Re14b748e5423416c"/>
    <p:sldId xmlns:r="http://schemas.openxmlformats.org/officeDocument/2006/relationships" id="263" r:id="R6e164aefa6f64c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e16daeaaec4f7e" /><Relationship Type="http://schemas.openxmlformats.org/officeDocument/2006/relationships/slideMaster" Target="/ppt/slideMasters/slideMaster1.xml" Id="Re5c6342bb9ad4e31" /><Relationship Type="http://schemas.openxmlformats.org/officeDocument/2006/relationships/notesMaster" Target="/ppt/notesMasters/notesMaster1.xml" Id="Rb33a0ef4fddc4367" /><Relationship Type="http://schemas.openxmlformats.org/officeDocument/2006/relationships/presProps" Target="/ppt/presProps.xml" Id="Rd24f0881f0d04467" /><Relationship Type="http://schemas.openxmlformats.org/officeDocument/2006/relationships/tableStyles" Target="/ppt/tableStyles.xml" Id="R90f5bc6d33b044b2" /><Relationship Type="http://schemas.openxmlformats.org/officeDocument/2006/relationships/slide" Target="/ppt/slides/slide1.xml" Id="Ref350b59c7d24030" /><Relationship Type="http://schemas.openxmlformats.org/officeDocument/2006/relationships/slide" Target="/ppt/slides/slide2.xml" Id="Rd2af0357fd73445a" /><Relationship Type="http://schemas.openxmlformats.org/officeDocument/2006/relationships/slide" Target="/ppt/slides/slide3.xml" Id="R0a30e9c6ea604a08" /><Relationship Type="http://schemas.openxmlformats.org/officeDocument/2006/relationships/slide" Target="/ppt/slides/slide4.xml" Id="R1c7bcadfbf244426" /><Relationship Type="http://schemas.openxmlformats.org/officeDocument/2006/relationships/slide" Target="/ppt/slides/slide5.xml" Id="Re426123ecdbc4ea3" /><Relationship Type="http://schemas.openxmlformats.org/officeDocument/2006/relationships/slide" Target="/ppt/slides/slide6.xml" Id="R1f2fda3b89bb4b55" /><Relationship Type="http://schemas.openxmlformats.org/officeDocument/2006/relationships/slide" Target="/ppt/slides/slide7.xml" Id="Re14b748e5423416c" /><Relationship Type="http://schemas.openxmlformats.org/officeDocument/2006/relationships/slide" Target="/ppt/slides/slide8.xml" Id="R6e164aefa6f64c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abda11caaa45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83ea4426bf4ac1" /><Relationship Type="http://schemas.openxmlformats.org/officeDocument/2006/relationships/notesMaster" Target="/ppt/notesMasters/notesMaster1.xml" Id="Rc3d7e71239a34f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4334821b144724" /><Relationship Type="http://schemas.openxmlformats.org/officeDocument/2006/relationships/notesMaster" Target="/ppt/notesMasters/notesMaster1.xml" Id="R6381d18a148b46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af2163ba864101" /><Relationship Type="http://schemas.openxmlformats.org/officeDocument/2006/relationships/notesMaster" Target="/ppt/notesMasters/notesMaster1.xml" Id="Rfe9302559c5942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66bb46d39f40e1" /><Relationship Type="http://schemas.openxmlformats.org/officeDocument/2006/relationships/notesMaster" Target="/ppt/notesMasters/notesMaster1.xml" Id="Rdc0c0abd75cf4c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69aa07b13d4415" /><Relationship Type="http://schemas.openxmlformats.org/officeDocument/2006/relationships/notesMaster" Target="/ppt/notesMasters/notesMaster1.xml" Id="R1383c9f699ee40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ed0fa013054bdc" /><Relationship Type="http://schemas.openxmlformats.org/officeDocument/2006/relationships/notesMaster" Target="/ppt/notesMasters/notesMaster1.xml" Id="Rad622765464d44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7522fb0c93d40eb" /><Relationship Type="http://schemas.openxmlformats.org/officeDocument/2006/relationships/notesMaster" Target="/ppt/notesMasters/notesMaster1.xml" Id="R1b79546e6ba8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c0a8c10bd84d7f" /><Relationship Type="http://schemas.openxmlformats.org/officeDocument/2006/relationships/notesMaster" Target="/ppt/notesMasters/notesMaster1.xml" Id="Rc1546eea45b84c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来源：D:/aniimo/aniimo-localization-ai/docs/FunPlus伊莫国际化产品案例分析.docx；D:/aniimo/aniimo-localization-ai/research/伊莫三市场素材库.xlsx；D:/aniimo/aniimo-localization-ai/research/materials.json。样本共60条，沙特组5条阿语和15条英语全球参照。市场策略为待验证假设。未引用内部访谈、转化或协作效率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依据Figma业务流程235:120、责任泳道236相关节点、六页原型以及最终候选237:251整理。为横版阅读重新布置原流程，不增加自动发布。预检、审核通过、采用和发布为独立状态。</a:t>
            </a:r>
          </a:p>
          <a:p xmlns:a="http://schemas.openxmlformats.org/drawingml/2006/main">
            <a:r>
              <a:t>正文围绕现有业务任务解释职责与分支，沿用原流程的审批、修订、驳回、采用及规则确认关系。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工作流源文件：aniimo_xiuxiuta_qwen2511_3markets_HQ.json。复用原始 ComfyUI 截图，不改变节点或执行状态。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沿用当前Figma截图：创建任务234:312、已批准需求234:83、生成工作台234:121。仅裁切重排；A为选中候选，C因尺寸不合格单独修正。未修改产品功能或恢复角色图片。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为v1审核时的待确认必审项、背景干扰意见和退回操作；右侧为后续v2修改、R-002复审及采用结果的设计流程，不是同一时刻的页面状态。最终候选截图237:251仅展示v2与R-002关联及确认采用操作。规则建议需负责人确认后形成新规则版本。来源为当前原型截图，不代表实际业务审核或用户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原型来源：Figma XMWcbaCfjafLJws8XOqloF。生成工作台 234:121，任务管理 234:45，本土化需求单 234:83。每张原型为单次连续裁切并等比显示。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原型来源：Figma XMWcbaCfjafLJws8XOqloF。人工审核 234:159，修订与定稿 234:197，市场规则库 234:235。每张原型为单次连续裁切并等比显示。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用项目产品分析、research/伊莫三市场素材库.xlsx、research/materials.json、三市场规则及当前Figma流程与原型。第五页回顾研究和产品方案的推进关系，不是第二页系统操作流程的重复。字段局部来自需求单234:83，问题类型来自审核页234:159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a8297aaf0141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55738e301469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91de5a6b240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16783508e4e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b73c741aac4a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7ddcbc0b548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F06E19-698D-451D-9E23-8BFCF45A68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94262C-BCA6-41E0-8001-40D1924304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956E27F-399B-4932-9033-5335E9108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407F2B-BFB8-4674-B8F8-F1B49C61CC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D60CAF1-2CA2-4045-BA73-D509928A2F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B51902-D6B3-4E4F-99B5-C75FC82FB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9F621C-F601-427D-9DF5-4110A9EA33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3F8D21-F90D-4157-A89C-DF32CDF9DF1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5A4688-AD9B-4C84-8F4F-CF1257FD8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2F3F04-973E-4ACA-AD21-CC7B2F5835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aa016628cc473c" /><Relationship Type="http://schemas.openxmlformats.org/officeDocument/2006/relationships/slideLayout" Target="/ppt/slideLayouts/slideLayout1.xml" Id="R359dc87d6fa64f70" /><Relationship Type="http://schemas.openxmlformats.org/officeDocument/2006/relationships/slideLayout" Target="/ppt/slideLayouts/slideLayout2.xml" Id="R57ae2971a8ca4224" /><Relationship Type="http://schemas.openxmlformats.org/officeDocument/2006/relationships/slideLayout" Target="/ppt/slideLayouts/slideLayout3.xml" Id="Rb0552decbf224ebc" /><Relationship Type="http://schemas.openxmlformats.org/officeDocument/2006/relationships/slideLayout" Target="/ppt/slideLayouts/slideLayout4.xml" Id="R1c6ce2a964d548c2" /><Relationship Type="http://schemas.openxmlformats.org/officeDocument/2006/relationships/slideLayout" Target="/ppt/slideLayouts/slideLayout5.xml" Id="Ra875ec465acd4d0f" /><Relationship Type="http://schemas.openxmlformats.org/officeDocument/2006/relationships/slideLayout" Target="/ppt/slideLayouts/slideLayout6.xml" Id="Ra8508b2dda4e46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9dc87d6fa64f70"/>
    <p:sldLayoutId xmlns:r="http://schemas.openxmlformats.org/officeDocument/2006/relationships" id="2147483650" r:id="R57ae2971a8ca4224"/>
    <p:sldLayoutId xmlns:r="http://schemas.openxmlformats.org/officeDocument/2006/relationships" id="2147483651" r:id="Rb0552decbf224ebc"/>
    <p:sldLayoutId xmlns:r="http://schemas.openxmlformats.org/officeDocument/2006/relationships" id="2147483652" r:id="R1c6ce2a964d548c2"/>
    <p:sldLayoutId xmlns:r="http://schemas.openxmlformats.org/officeDocument/2006/relationships" id="2147483653" r:id="Ra875ec465acd4d0f"/>
    <p:sldLayoutId xmlns:r="http://schemas.openxmlformats.org/officeDocument/2006/relationships" id="2147483654" r:id="Ra8508b2dda4e46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205e63169842fc" /><Relationship Type="http://schemas.openxmlformats.org/officeDocument/2006/relationships/notesSlide" Target="/ppt/notesSlides/notesSlide1.xml" Id="R898b27416d9346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73a7ba7be49af" /><Relationship Type="http://schemas.openxmlformats.org/officeDocument/2006/relationships/notesSlide" Target="/ppt/notesSlides/notesSlide2.xml" Id="Re885668ce7824c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0b3e9508b47db" /><Relationship Type="http://schemas.openxmlformats.org/officeDocument/2006/relationships/image" Target="/ppt/media/image.png" Id="R5d82fb36038049ca" /><Relationship Type="http://schemas.openxmlformats.org/officeDocument/2006/relationships/notesSlide" Target="/ppt/notesSlides/notesSlide3.xml" Id="R3b2a89c583654f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de01e4f16f40f2" /><Relationship Type="http://schemas.openxmlformats.org/officeDocument/2006/relationships/image" Target="/ppt/media/image2.png" Id="R2b7f3ade0cf94a04" /><Relationship Type="http://schemas.openxmlformats.org/officeDocument/2006/relationships/image" Target="/ppt/media/image3.png" Id="Re9f29503a5bf4e38" /><Relationship Type="http://schemas.openxmlformats.org/officeDocument/2006/relationships/image" Target="/ppt/media/image4.png" Id="R87b8c856cd2847a8" /><Relationship Type="http://schemas.openxmlformats.org/officeDocument/2006/relationships/image" Target="/ppt/media/image5.png" Id="Rde127e0ce6054971" /><Relationship Type="http://schemas.openxmlformats.org/officeDocument/2006/relationships/image" Target="/ppt/media/image6.png" Id="R0e2046ec2c4049c9" /><Relationship Type="http://schemas.openxmlformats.org/officeDocument/2006/relationships/image" Target="/ppt/media/image7.png" Id="R5eab0db7aef3480a" /><Relationship Type="http://schemas.openxmlformats.org/officeDocument/2006/relationships/image" Target="/ppt/media/image8.png" Id="Ra8d03b8227184d6b" /><Relationship Type="http://schemas.openxmlformats.org/officeDocument/2006/relationships/image" Target="/ppt/media/image9.png" Id="R1d615846f18d45be" /><Relationship Type="http://schemas.openxmlformats.org/officeDocument/2006/relationships/image" Target="/ppt/media/image10.png" Id="Rcf4967f89c724950" /><Relationship Type="http://schemas.openxmlformats.org/officeDocument/2006/relationships/image" Target="/ppt/media/image11.png" Id="Rc9d30af55562472b" /><Relationship Type="http://schemas.openxmlformats.org/officeDocument/2006/relationships/image" Target="/ppt/media/image12.png" Id="Rcdf1558a8a2a49ce" /><Relationship Type="http://schemas.openxmlformats.org/officeDocument/2006/relationships/notesSlide" Target="/ppt/notesSlides/notesSlide4.xml" Id="Re3c1fb80d92345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d1f75fcbf4524" /><Relationship Type="http://schemas.openxmlformats.org/officeDocument/2006/relationships/image" Target="/ppt/media/image13.png" Id="Re290100772d24f1d" /><Relationship Type="http://schemas.openxmlformats.org/officeDocument/2006/relationships/image" Target="/ppt/media/image14.png" Id="Rb4dd0f44b1fd4453" /><Relationship Type="http://schemas.openxmlformats.org/officeDocument/2006/relationships/image" Target="/ppt/media/image15.png" Id="R2bddc3ee19594d83" /><Relationship Type="http://schemas.openxmlformats.org/officeDocument/2006/relationships/image" Target="/ppt/media/image16.png" Id="Rd42eb6ff98ef4830" /><Relationship Type="http://schemas.openxmlformats.org/officeDocument/2006/relationships/image" Target="/ppt/media/image17.png" Id="Rf523b0a9120b466a" /><Relationship Type="http://schemas.openxmlformats.org/officeDocument/2006/relationships/image" Target="/ppt/media/image18.png" Id="R68d9a01a992946c4" /><Relationship Type="http://schemas.openxmlformats.org/officeDocument/2006/relationships/image" Target="/ppt/media/image19.png" Id="R3d70d5c71eda493b" /><Relationship Type="http://schemas.openxmlformats.org/officeDocument/2006/relationships/image" Target="/ppt/media/image20.png" Id="Rd154810431944e1e" /><Relationship Type="http://schemas.openxmlformats.org/officeDocument/2006/relationships/notesSlide" Target="/ppt/notesSlides/notesSlide5.xml" Id="R1d14152025fd40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5c73c5d5364755" /><Relationship Type="http://schemas.openxmlformats.org/officeDocument/2006/relationships/image" Target="/ppt/media/image21.png" Id="R1e23c59292594cc6" /><Relationship Type="http://schemas.openxmlformats.org/officeDocument/2006/relationships/image" Target="/ppt/media/image22.png" Id="R139d859f35e44f80" /><Relationship Type="http://schemas.openxmlformats.org/officeDocument/2006/relationships/image" Target="/ppt/media/image23.png" Id="Re3f95903c7334038" /><Relationship Type="http://schemas.openxmlformats.org/officeDocument/2006/relationships/notesSlide" Target="/ppt/notesSlides/notesSlide6.xml" Id="R3cf5333a58524b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b3df6e2b874062" /><Relationship Type="http://schemas.openxmlformats.org/officeDocument/2006/relationships/image" Target="/ppt/media/image24.png" Id="Rc7d4c68eb80048b4" /><Relationship Type="http://schemas.openxmlformats.org/officeDocument/2006/relationships/image" Target="/ppt/media/image25.png" Id="R703722a2667b46f9" /><Relationship Type="http://schemas.openxmlformats.org/officeDocument/2006/relationships/image" Target="/ppt/media/image26.png" Id="R382530f66a504a81" /><Relationship Type="http://schemas.openxmlformats.org/officeDocument/2006/relationships/notesSlide" Target="/ppt/notesSlides/notesSlide7.xml" Id="Rc0fc1526f8b248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34b34d8b846a5" /><Relationship Type="http://schemas.openxmlformats.org/officeDocument/2006/relationships/image" Target="/ppt/media/image27.png" Id="R7488680466a34148" /><Relationship Type="http://schemas.openxmlformats.org/officeDocument/2006/relationships/image" Target="/ppt/media/image28.png" Id="Rb9ca146a01c3409a" /><Relationship Type="http://schemas.openxmlformats.org/officeDocument/2006/relationships/notesSlide" Target="/ppt/notesSlides/notesSlide8.xml" Id="Rdeacd69b36f74e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重点浅底">
            <a:extLst xmlns:a="http://schemas.openxmlformats.org/drawingml/2006/main">
              <a:ext uri="{FF2B5EF4-FFF2-40B4-BE49-F238E27FC236}">
                <a16:creationId xmlns:a16="http://schemas.microsoft.com/office/drawing/2014/main" id="{A15E7767-F100-4923-8320-FEB260F9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95550"/>
            <a:ext cx="3476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</a:ln>
        </p:spPr>
      </p:sp>
      <p:sp>
        <p:nvSpPr>
          <p:cNvPr id="40" name="重点浅底">
            <a:extLst xmlns:a="http://schemas.openxmlformats.org/drawingml/2006/main">
              <a:ext uri="{FF2B5EF4-FFF2-40B4-BE49-F238E27FC236}">
                <a16:creationId xmlns:a16="http://schemas.microsoft.com/office/drawing/2014/main" id="{1231FE5E-9BCE-4ED9-84BD-390CB73F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371850"/>
            <a:ext cx="35528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185CA7-58AC-4507-8F24-FAED8A10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7334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5B7F1F-4EA1-43A9-A0ED-7BDE17EA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34350" y="1562100"/>
            <a:ext cx="0" cy="434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graphicFrame>
        <p:nvGraphicFrame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7F052-C9D5-4122-83AB-00417A21A9B9}"/>
              </a:ext>
            </a:extLst>
          </p:cNvPr>
          <p:cNvGraphicFramePr/>
          <p:nvPr/>
        </p:nvGraphicFramePr>
        <p:xfrm>
          <a:off xmlns:a="http://schemas.openxmlformats.org/drawingml/2006/main" x="361950" y="3667125"/>
          <a:ext xmlns:a="http://schemas.openxmlformats.org/drawingml/2006/main" cx="750570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5850"/>
                <a:gridCol w="2133600"/>
                <a:gridCol w="2143125"/>
                <a:gridCol w="2143125"/>
              </a:tblGrid>
              <a:tr h="3048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83B6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7E0EB"/>
                      </a:solidFill>
                    </a:lnL>
                    <a:lnR w="4763">
                      <a:solidFill>
                        <a:srgbClr val="D7E0EB"/>
                      </a:solidFill>
                    </a:lnR>
                    <a:lnT w="4763">
                      <a:solidFill>
                        <a:srgbClr val="D7E0EB"/>
                      </a:solidFill>
                    </a:lnT>
                    <a:lnB w="4763">
                      <a:solidFill>
                        <a:srgbClr val="D7E0EB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83B6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日本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T w="4763">
                      <a:solidFill>
                        <a:srgbClr val="D7E0EB"/>
                      </a:solidFill>
                    </a:lnT>
                    <a:lnB w="4763">
                      <a:solidFill>
                        <a:srgbClr val="D7E0EB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83B6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美国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T w="4763">
                      <a:solidFill>
                        <a:srgbClr val="D7E0EB"/>
                      </a:solidFill>
                    </a:lnT>
                    <a:lnB w="4763">
                      <a:solidFill>
                        <a:srgbClr val="D7E0EB"/>
                      </a:solidFill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83B6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沙特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T w="4763">
                      <a:solidFill>
                        <a:srgbClr val="D7E0EB"/>
                      </a:solidFill>
                    </a:lnT>
                    <a:lnB w="4763">
                      <a:solidFill>
                        <a:srgbClr val="D7E0EB"/>
                      </a:solidFill>
                    </a:lnB>
                    <a:solidFill>
                      <a:srgbClr val="EEF4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传播假设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7E0EB"/>
                      </a:solidFill>
                    </a:lnL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角色收集与陪伴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联结能力与探索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伙伴关系与友好探索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表现方向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7E0EB"/>
                      </a:solidFill>
                    </a:lnL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近景、表情、关系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动作、能力变化、环境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群体互动、清晰层级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语言与审核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7E0EB"/>
                      </a:solidFill>
                    </a:lnL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日语语气、角色识别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玩法真实性、平台表述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阿语、文字方向、文化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需求落点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7E0EB"/>
                      </a:solidFill>
                    </a:lnL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主卖点与角色卡规格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玩法证据与构图约束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0">
                          <a:solidFill>
                            <a:srgbClr val="252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语言规则与审核条件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7E0EB"/>
                      </a:solidFill>
                    </a:lnR>
                    <a:lnB w="4763">
                      <a:solidFill>
                        <a:srgbClr val="D7E0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31F67F-5445-4792-8F94-8D0F1396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61531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2" name="textbox">
            <a:extLst xmlns:a="http://schemas.openxmlformats.org/drawingml/2006/main">
              <a:ext uri="{FF2B5EF4-FFF2-40B4-BE49-F238E27FC236}">
                <a16:creationId xmlns:a16="http://schemas.microsoft.com/office/drawing/2014/main" id="{5C4A9701-909E-467C-8B2A-18907805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项目问题与需求依据</a:t>
            </a:r>
          </a:p>
        </p:txBody>
      </p:sp>
      <p:sp>
        <p:nvSpPr>
          <p:cNvPr id="3" name="textbox">
            <a:extLst xmlns:a="http://schemas.openxmlformats.org/drawingml/2006/main">
              <a:ext uri="{FF2B5EF4-FFF2-40B4-BE49-F238E27FC236}">
                <a16:creationId xmlns:a16="http://schemas.microsoft.com/office/drawing/2014/main" id="{AAE1B401-250A-45AD-B6D8-A7088247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5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Aniimo</a:t>
            </a:r>
          </a:p>
        </p:txBody>
      </p:sp>
      <p:sp>
        <p:nvSpPr>
          <p:cNvPr id="5" name="textbox">
            <a:extLst xmlns:a="http://schemas.openxmlformats.org/drawingml/2006/main">
              <a:ext uri="{FF2B5EF4-FFF2-40B4-BE49-F238E27FC236}">
                <a16:creationId xmlns:a16="http://schemas.microsoft.com/office/drawing/2014/main" id="{EDD3A0E5-64E3-4026-BD2B-83F71F90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">
            <a:extLst xmlns:a="http://schemas.openxmlformats.org/drawingml/2006/main">
              <a:ext uri="{FF2B5EF4-FFF2-40B4-BE49-F238E27FC236}">
                <a16:creationId xmlns:a16="http://schemas.microsoft.com/office/drawing/2014/main" id="{4C0307E2-F5DD-4168-8FD6-9F8E5022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716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8" name="textbox">
            <a:extLst xmlns:a="http://schemas.openxmlformats.org/drawingml/2006/main">
              <a:ext uri="{FF2B5EF4-FFF2-40B4-BE49-F238E27FC236}">
                <a16:creationId xmlns:a16="http://schemas.microsoft.com/office/drawing/2014/main" id="{317A9CEC-6280-4100-B8F6-0B50312E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24050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《伊莫》海外美宣本土化</a:t>
            </a:r>
          </a:p>
        </p:txBody>
      </p:sp>
      <p:sp>
        <p:nvSpPr>
          <p:cNvPr id="9" name="textbox">
            <a:extLst xmlns:a="http://schemas.openxmlformats.org/drawingml/2006/main">
              <a:ext uri="{FF2B5EF4-FFF2-40B4-BE49-F238E27FC236}">
                <a16:creationId xmlns:a16="http://schemas.microsoft.com/office/drawing/2014/main" id="{A3108990-A4F9-4855-96D8-2E850292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76475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同一角色资产，需要适配不同市场的卖点、语言和渠道规格。</a:t>
            </a:r>
          </a:p>
        </p:txBody>
      </p:sp>
      <p:sp>
        <p:nvSpPr>
          <p:cNvPr id="10" name="textbox">
            <a:extLst xmlns:a="http://schemas.openxmlformats.org/drawingml/2006/main">
              <a:ext uri="{FF2B5EF4-FFF2-40B4-BE49-F238E27FC236}">
                <a16:creationId xmlns:a16="http://schemas.microsoft.com/office/drawing/2014/main" id="{2EA6AFE9-7F6C-42DE-BFA1-1583DCF3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工具使用者</a:t>
            </a:r>
          </a:p>
        </p:txBody>
      </p:sp>
      <p:sp>
        <p:nvSpPr>
          <p:cNvPr id="12" name="textbox">
            <a:extLst xmlns:a="http://schemas.openxmlformats.org/drawingml/2006/main">
              <a:ext uri="{FF2B5EF4-FFF2-40B4-BE49-F238E27FC236}">
                <a16:creationId xmlns:a16="http://schemas.microsoft.com/office/drawing/2014/main" id="{313011B0-896B-4A5D-A604-F983C48F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43100"/>
            <a:ext cx="34004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营销运营：明确市场与传播目标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创意制作：生成、比较并修改候选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本土化审核：确认语言、文化与品牌</a:t>
            </a:r>
          </a:p>
        </p:txBody>
      </p:sp>
      <p:sp>
        <p:nvSpPr>
          <p:cNvPr id="13" name="textbox">
            <a:extLst xmlns:a="http://schemas.openxmlformats.org/drawingml/2006/main">
              <a:ext uri="{FF2B5EF4-FFF2-40B4-BE49-F238E27FC236}">
                <a16:creationId xmlns:a16="http://schemas.microsoft.com/office/drawing/2014/main" id="{6938265A-FCD9-4914-B1CC-3A240686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产品与宣传受众</a:t>
            </a:r>
          </a:p>
        </p:txBody>
      </p:sp>
      <p:sp>
        <p:nvSpPr>
          <p:cNvPr id="15" name="textbox">
            <a:extLst xmlns:a="http://schemas.openxmlformats.org/drawingml/2006/main">
              <a:ext uri="{FF2B5EF4-FFF2-40B4-BE49-F238E27FC236}">
                <a16:creationId xmlns:a16="http://schemas.microsoft.com/office/drawing/2014/main" id="{A1455CD5-7C35-4244-BDF9-E54F2445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331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大世界捉宠玩法，以联结合体连接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角色收集、陪伴与能力探索。</a:t>
            </a:r>
          </a:p>
        </p:txBody>
      </p:sp>
      <p:sp>
        <p:nvSpPr>
          <p:cNvPr id="16" name="textbox">
            <a:extLst xmlns:a="http://schemas.openxmlformats.org/drawingml/2006/main">
              <a:ext uri="{FF2B5EF4-FFF2-40B4-BE49-F238E27FC236}">
                <a16:creationId xmlns:a16="http://schemas.microsoft.com/office/drawing/2014/main" id="{D07918AF-AFBC-42FD-BF9E-D409F0AE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43175"/>
            <a:ext cx="3371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13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13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玩家是宣传受众，不是工具使用者。</a:t>
            </a:r>
          </a:p>
        </p:txBody>
      </p:sp>
      <p:sp>
        <p:nvSpPr>
          <p:cNvPr id="17" name="textbox">
            <a:extLst xmlns:a="http://schemas.openxmlformats.org/drawingml/2006/main">
              <a:ext uri="{FF2B5EF4-FFF2-40B4-BE49-F238E27FC236}">
                <a16:creationId xmlns:a16="http://schemas.microsoft.com/office/drawing/2014/main" id="{834FC49B-785C-469F-958D-ECCF1176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000375"/>
            <a:ext cx="750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公开素材研究与三市场比较</a:t>
            </a:r>
          </a:p>
        </p:txBody>
      </p:sp>
      <p:sp>
        <p:nvSpPr>
          <p:cNvPr id="19" name="textbox">
            <a:extLst xmlns:a="http://schemas.openxmlformats.org/drawingml/2006/main">
              <a:ext uri="{FF2B5EF4-FFF2-40B4-BE49-F238E27FC236}">
                <a16:creationId xmlns:a16="http://schemas.microsoft.com/office/drawing/2014/main" id="{0A83EF74-7138-47AC-BD3E-A0F53281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324225"/>
            <a:ext cx="750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60条同品类素材：日本20条、美国20条、沙特研究组20条</a:t>
            </a:r>
          </a:p>
        </p:txBody>
      </p:sp>
      <p:sp>
        <p:nvSpPr>
          <p:cNvPr id="21" name="textbox">
            <a:extLst xmlns:a="http://schemas.openxmlformats.org/drawingml/2006/main">
              <a:ext uri="{FF2B5EF4-FFF2-40B4-BE49-F238E27FC236}">
                <a16:creationId xmlns:a16="http://schemas.microsoft.com/office/drawing/2014/main" id="{1D6EE9CB-4979-405B-A32B-6A2DD38E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48000"/>
            <a:ext cx="3400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研究怎样进入产品</a:t>
            </a:r>
          </a:p>
        </p:txBody>
      </p:sp>
      <p:sp>
        <p:nvSpPr>
          <p:cNvPr id="23" name="textbox">
            <a:extLst xmlns:a="http://schemas.openxmlformats.org/drawingml/2006/main">
              <a:ext uri="{FF2B5EF4-FFF2-40B4-BE49-F238E27FC236}">
                <a16:creationId xmlns:a16="http://schemas.microsoft.com/office/drawing/2014/main" id="{5F293CB4-1658-48AA-85B0-1B7FB0DE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480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市场表达有差异</a:t>
            </a:r>
          </a:p>
        </p:txBody>
      </p:sp>
      <p:sp>
        <p:nvSpPr>
          <p:cNvPr id="24" name="textbox">
            <a:extLst xmlns:a="http://schemas.openxmlformats.org/drawingml/2006/main">
              <a:ext uri="{FF2B5EF4-FFF2-40B4-BE49-F238E27FC236}">
                <a16:creationId xmlns:a16="http://schemas.microsoft.com/office/drawing/2014/main" id="{CECCBB31-0D01-4B49-86CB-497D7A9B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1475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需求单字段 + 市场规则</a:t>
            </a:r>
          </a:p>
        </p:txBody>
      </p:sp>
      <p:sp>
        <p:nvSpPr>
          <p:cNvPr id="25" name="textbox">
            <a:extLst xmlns:a="http://schemas.openxmlformats.org/drawingml/2006/main">
              <a:ext uri="{FF2B5EF4-FFF2-40B4-BE49-F238E27FC236}">
                <a16:creationId xmlns:a16="http://schemas.microsoft.com/office/drawing/2014/main" id="{CA7818C4-C18C-4094-9B06-C9C0C4E2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290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资产必须保持一致</a:t>
            </a:r>
          </a:p>
        </p:txBody>
      </p:sp>
      <p:sp>
        <p:nvSpPr>
          <p:cNvPr id="26" name="textbox">
            <a:extLst xmlns:a="http://schemas.openxmlformats.org/drawingml/2006/main">
              <a:ext uri="{FF2B5EF4-FFF2-40B4-BE49-F238E27FC236}">
                <a16:creationId xmlns:a16="http://schemas.microsoft.com/office/drawing/2014/main" id="{2BBE0F82-366F-46E2-BA95-029E31A3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295775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不可变资产 + 官方参考</a:t>
            </a:r>
          </a:p>
        </p:txBody>
      </p:sp>
      <p:sp>
        <p:nvSpPr>
          <p:cNvPr id="27" name="textbox">
            <a:extLst xmlns:a="http://schemas.openxmlformats.org/drawingml/2006/main">
              <a:ext uri="{FF2B5EF4-FFF2-40B4-BE49-F238E27FC236}">
                <a16:creationId xmlns:a16="http://schemas.microsoft.com/office/drawing/2014/main" id="{F976D64A-B148-4A70-8252-A1164DB3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1010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修改与审核交接</a:t>
            </a:r>
          </a:p>
        </p:txBody>
      </p:sp>
      <p:sp>
        <p:nvSpPr>
          <p:cNvPr id="28" name="textbox">
            <a:extLst xmlns:a="http://schemas.openxmlformats.org/drawingml/2006/main">
              <a:ext uri="{FF2B5EF4-FFF2-40B4-BE49-F238E27FC236}">
                <a16:creationId xmlns:a16="http://schemas.microsoft.com/office/drawing/2014/main" id="{484D3D7A-3292-4CB4-8AA2-3DD4BC1E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876800"/>
            <a:ext cx="312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意见分类 + 版本记录</a:t>
            </a:r>
          </a:p>
        </p:txBody>
      </p:sp>
      <p:sp>
        <p:nvSpPr>
          <p:cNvPr id="29" name="textbox">
            <a:extLst xmlns:a="http://schemas.openxmlformats.org/drawingml/2006/main">
              <a:ext uri="{FF2B5EF4-FFF2-40B4-BE49-F238E27FC236}">
                <a16:creationId xmlns:a16="http://schemas.microsoft.com/office/drawing/2014/main" id="{E5E9C96B-C4BB-4DDF-90AE-855941AA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267325"/>
            <a:ext cx="34004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方案假设：用统一需求、审批与版本记录，减少交接时的信息遗漏。内部协作问题仍待访谈验证。</a:t>
            </a:r>
          </a:p>
        </p:txBody>
      </p:sp>
      <p:sp>
        <p:nvSpPr>
          <p:cNvPr id="30" name="textbox">
            <a:extLst xmlns:a="http://schemas.openxmlformats.org/drawingml/2006/main">
              <a:ext uri="{FF2B5EF4-FFF2-40B4-BE49-F238E27FC236}">
                <a16:creationId xmlns:a16="http://schemas.microsoft.com/office/drawing/2014/main" id="{A9408DCF-3739-411E-8ED1-16989427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514975"/>
            <a:ext cx="90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研究限制</a:t>
            </a:r>
          </a:p>
        </p:txBody>
      </p:sp>
      <p:sp>
        <p:nvSpPr>
          <p:cNvPr id="31" name="textbox">
            <a:extLst xmlns:a="http://schemas.openxmlformats.org/drawingml/2006/main">
              <a:ext uri="{FF2B5EF4-FFF2-40B4-BE49-F238E27FC236}">
                <a16:creationId xmlns:a16="http://schemas.microsoft.com/office/drawing/2014/main" id="{5390AEB8-CBA7-4622-9D8F-B764A19B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467350"/>
            <a:ext cx="64484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沙特研究组含5条阿语/地区素材、15条全球参照。公开观看数用于传播分析，不证明转化效果或公司内部协作低效。</a:t>
            </a:r>
          </a:p>
        </p:txBody>
      </p:sp>
      <p:sp>
        <p:nvSpPr>
          <p:cNvPr id="35" name="textbox">
            <a:extLst xmlns:a="http://schemas.openxmlformats.org/drawingml/2006/main">
              <a:ext uri="{FF2B5EF4-FFF2-40B4-BE49-F238E27FC236}">
                <a16:creationId xmlns:a16="http://schemas.microsoft.com/office/drawing/2014/main" id="{3C0BEC06-A03C-464F-9AFB-B749C4B5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47725"/>
            <a:ext cx="1146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这是面向营销、创意制作及本土化审核团队的工作台，集中处理海外美宣需求、候选生成与审核交接。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同一资产在不同市场如何表达，先由公开素材研究形成假设，再落实到需求单字段和审核条件。</a:t>
            </a:r>
          </a:p>
        </p:txBody>
      </p:sp>
    </p:spTree>
    <p:extLst>
      <p:ext uri="{BB962C8B-B14F-4D97-AF65-F5344CB8AC3E}">
        <p14:creationId xmlns:p14="http://schemas.microsoft.com/office/powerpoint/2010/main" val="17312174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537D8FF-0326-483D-9C7F-1A939973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7334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103D5DB-31F0-4D2E-81E2-B6E776E3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71750"/>
            <a:ext cx="14668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E0EB"/>
            </a:solidFill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9C3C611-9CE8-4FBA-B875-5F5422EC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28800" y="31718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3DAA5BC-8486-4202-9915-050DC5D8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968608" y="3171825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88F6AAD-1664-4434-962A-304B9EF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968608" y="3145434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F6C0520-17CC-4D09-957E-6D902489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71750"/>
            <a:ext cx="14668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E0EB"/>
            </a:solidFill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FF172AC-1B20-47DC-A0CE-EAADAC0E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86150" y="31718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349CC03-161F-4086-B8FF-CA6C0CDB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25958" y="3171825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27CA4FE-636E-41E4-BDA0-C14A8B1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625958" y="3145434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25BD1A8-5A95-4C38-9488-1A853A78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71750"/>
            <a:ext cx="1466850" cy="1200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0478">
            <a:solidFill>
              <a:srgbClr val="183B63"/>
            </a:solidFill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09DFA6-6F17-4F52-BDB8-3B98A8B0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0" y="31718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DF5FD2D0-E810-4889-816D-CC0F4097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283308" y="3171825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44C3290-0EE6-45FB-A60F-4A0EF032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283308" y="3145434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5BA2193D-7E8A-4843-9C98-311B403E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14668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E0EB"/>
            </a:solidFill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18932051-EF56-49B9-969B-A7675DB0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00850" y="31718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F1DCC37-EA44-4327-BBE2-323D811D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940658" y="3171825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511D5C2-0853-439A-9526-4D1A6C8D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940658" y="3145434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651C848-C174-4B91-9FE6-42EBBD18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1466850" cy="1200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10478">
            <a:solidFill>
              <a:srgbClr val="183B63"/>
            </a:solidFill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3C0DB4F-F110-48CF-8C11-66153C92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58200" y="31718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44A574D-4148-4628-92BD-BB7EC0BB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598008" y="3171825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EEDA57C-AE1E-489C-802B-7E62540B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598008" y="3145434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01D6826-2609-473D-9154-45D3C68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1466850" cy="1200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10478">
            <a:solidFill>
              <a:srgbClr val="183B63"/>
            </a:solidFill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B4BC47D-1034-4546-BD3D-1EE992A5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115550" y="3171825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304A450-E72C-4A62-9101-90BA4033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255358" y="3171825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1654497-FC5D-4A91-9DC6-90DDF6BC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255358" y="3145434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2B3E265-A7C0-4A0D-AE15-E7C87AEE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571750"/>
            <a:ext cx="1466850" cy="12001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E0EB"/>
            </a:solidFill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DAAA7FE-CFDE-40A9-8500-F5127C32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10075" y="20478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C991484-B807-4AC1-95CB-1809002B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752725" y="2047875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240B904-F97B-41D2-9DA3-6DD8F40D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52725" y="20478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C0D70727-351E-472C-9C2E-6755869E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726334" y="2521058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D3100C6-C563-4A57-99EF-460B84E1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52725" y="2521058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F7529F4-DFCF-4D80-A8AD-F2104BBF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00550"/>
            <a:ext cx="24955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21024C91-546E-4B46-B60F-CDBFDDBC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24775" y="3771900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28AACDC8-2E88-4502-92D1-AF8A2D72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229475" y="412432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3D72EA57-DF56-440B-9FF0-8C8B948C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29475" y="4124325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4A260E6-FC2A-45AC-B2AD-B3A8CFC6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203084" y="4349858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8FA0543E-2D6A-4E47-83AE-3F783CEF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29475" y="4349858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378F6767-137A-4CE3-88DD-38598452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82125" y="3771900"/>
            <a:ext cx="0" cy="981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F2E8C4C-F260-42EF-8468-DF318115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829550" y="4752975"/>
            <a:ext cx="1552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4300EF65-E804-4DCB-A872-103FB258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29550" y="4726584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D4649AA-54A7-4C2D-B351-1AB88C39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29550" y="4752975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C1063BB-46AA-4214-8167-02D5E701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886450" y="377190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9C4A34C-3126-4672-9D18-28402F5A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86450" y="3771900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8D60A1DF-11F2-45B3-869E-9985AC18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860059" y="3771900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144BC950-1FDE-4485-A09E-AB5EAAAA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934450" y="3409950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0449444-6754-41C9-9B7A-8A42C7BC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752725" y="5448300"/>
            <a:ext cx="6181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0E6F9CB8-429A-44B9-B7BB-8ECF379A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752725" y="3771900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85CF2B7-A0E2-439C-95E6-B653B959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52725" y="3771900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44C916F-8700-4003-8A91-AD800F8A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726334" y="3771900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B43F35"/>
            </a:solidFill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3D8E6EC-B511-48AA-B9DE-F65E6D0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582930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6946CC4-DE99-4512-A217-41002EBD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143250" y="60388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467B7C9-0B22-43A3-84A2-1878ADDC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406883" y="6038850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60EFBA44-C877-4205-9AB9-BE826589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406883" y="6012459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93CAF9F-D155-47AA-81B4-6ADF0534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00650" y="60388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DF21FD2-802F-4637-91DB-478881D6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464283" y="6038850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53C34D5C-91B7-41E9-B183-49B8F0C9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464283" y="6012459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F6B5A1E-13E2-4E24-B314-14D1F8E1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58050" y="6038850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7144F42E-2E04-41B0-8E8C-22537781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521683" y="6038850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0F85228-2F1D-47D6-A9B2-DC709CBF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521683" y="6012459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35D7B18-0DD5-483A-A170-A09B429D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01225" y="59531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2" name="textbox">
            <a:extLst xmlns:a="http://schemas.openxmlformats.org/drawingml/2006/main">
              <a:ext uri="{FF2B5EF4-FFF2-40B4-BE49-F238E27FC236}">
                <a16:creationId xmlns:a16="http://schemas.microsoft.com/office/drawing/2014/main" id="{77A586F4-E8C6-4F65-9E70-9B04F5A9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核心流程与责任分工</a:t>
            </a:r>
          </a:p>
        </p:txBody>
      </p:sp>
      <p:sp>
        <p:nvSpPr>
          <p:cNvPr id="3" name="textbox">
            <a:extLst xmlns:a="http://schemas.openxmlformats.org/drawingml/2006/main">
              <a:ext uri="{FF2B5EF4-FFF2-40B4-BE49-F238E27FC236}">
                <a16:creationId xmlns:a16="http://schemas.microsoft.com/office/drawing/2014/main" id="{80BA1737-5464-4EAA-9B85-B1D08D06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5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Aniimo</a:t>
            </a:r>
          </a:p>
        </p:txBody>
      </p:sp>
      <p:sp>
        <p:nvSpPr>
          <p:cNvPr id="5" name="textbox">
            <a:extLst xmlns:a="http://schemas.openxmlformats.org/drawingml/2006/main">
              <a:ext uri="{FF2B5EF4-FFF2-40B4-BE49-F238E27FC236}">
                <a16:creationId xmlns:a16="http://schemas.microsoft.com/office/drawing/2014/main" id="{766100A9-E781-45D7-A647-E7761681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">
            <a:extLst xmlns:a="http://schemas.openxmlformats.org/drawingml/2006/main">
              <a:ext uri="{FF2B5EF4-FFF2-40B4-BE49-F238E27FC236}">
                <a16:creationId xmlns:a16="http://schemas.microsoft.com/office/drawing/2014/main" id="{41A9D535-EC28-4141-96C3-EC77C9C4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营销 / 创意</a:t>
            </a:r>
          </a:p>
        </p:txBody>
      </p:sp>
      <p:sp>
        <p:nvSpPr>
          <p:cNvPr id="14" name="textbox">
            <a:extLst xmlns:a="http://schemas.openxmlformats.org/drawingml/2006/main">
              <a:ext uri="{FF2B5EF4-FFF2-40B4-BE49-F238E27FC236}">
                <a16:creationId xmlns:a16="http://schemas.microsoft.com/office/drawing/2014/main" id="{83769B8E-AD18-4D9D-A1D0-5367BA83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860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AI系统</a:t>
            </a:r>
          </a:p>
        </p:txBody>
      </p:sp>
      <p:sp>
        <p:nvSpPr>
          <p:cNvPr id="15" name="textbox">
            <a:extLst xmlns:a="http://schemas.openxmlformats.org/drawingml/2006/main">
              <a:ext uri="{FF2B5EF4-FFF2-40B4-BE49-F238E27FC236}">
                <a16:creationId xmlns:a16="http://schemas.microsoft.com/office/drawing/2014/main" id="{F9032B9E-345B-4101-8A10-942B120F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956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6" name="textbox">
            <a:extLst xmlns:a="http://schemas.openxmlformats.org/drawingml/2006/main">
              <a:ext uri="{FF2B5EF4-FFF2-40B4-BE49-F238E27FC236}">
                <a16:creationId xmlns:a16="http://schemas.microsoft.com/office/drawing/2014/main" id="{7B8E6DFD-8795-4515-969B-3D0226C3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AI系统</a:t>
            </a:r>
          </a:p>
        </p:txBody>
      </p:sp>
      <p:sp>
        <p:nvSpPr>
          <p:cNvPr id="17" name="textbox">
            <a:extLst xmlns:a="http://schemas.openxmlformats.org/drawingml/2006/main">
              <a:ext uri="{FF2B5EF4-FFF2-40B4-BE49-F238E27FC236}">
                <a16:creationId xmlns:a16="http://schemas.microsoft.com/office/drawing/2014/main" id="{5FFA8F03-A5DE-4AA5-A070-803ADF7C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956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AI系统</a:t>
            </a:r>
          </a:p>
        </p:txBody>
      </p:sp>
      <p:sp>
        <p:nvSpPr>
          <p:cNvPr id="18" name="textbox">
            <a:extLst xmlns:a="http://schemas.openxmlformats.org/drawingml/2006/main">
              <a:ext uri="{FF2B5EF4-FFF2-40B4-BE49-F238E27FC236}">
                <a16:creationId xmlns:a16="http://schemas.microsoft.com/office/drawing/2014/main" id="{9F4A64F1-46E0-467E-BE09-F5CABFBA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专业审核</a:t>
            </a:r>
          </a:p>
        </p:txBody>
      </p:sp>
      <p:sp>
        <p:nvSpPr>
          <p:cNvPr id="19" name="textbox">
            <a:extLst xmlns:a="http://schemas.openxmlformats.org/drawingml/2006/main">
              <a:ext uri="{FF2B5EF4-FFF2-40B4-BE49-F238E27FC236}">
                <a16:creationId xmlns:a16="http://schemas.microsoft.com/office/drawing/2014/main" id="{32862128-D1D6-4C40-8FA8-DA69BA7A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8605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营销 / 创意</a:t>
            </a:r>
          </a:p>
        </p:txBody>
      </p:sp>
      <p:sp>
        <p:nvSpPr>
          <p:cNvPr id="21" name="textbox">
            <a:extLst xmlns:a="http://schemas.openxmlformats.org/drawingml/2006/main">
              <a:ext uri="{FF2B5EF4-FFF2-40B4-BE49-F238E27FC236}">
                <a16:creationId xmlns:a16="http://schemas.microsoft.com/office/drawing/2014/main" id="{2F706B98-D0A3-4A3C-BBAE-19C0FC62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71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① 任务输入</a:t>
            </a:r>
          </a:p>
        </p:txBody>
      </p:sp>
      <p:sp>
        <p:nvSpPr>
          <p:cNvPr id="22" name="textbox">
            <a:extLst xmlns:a="http://schemas.openxmlformats.org/drawingml/2006/main">
              <a:ext uri="{FF2B5EF4-FFF2-40B4-BE49-F238E27FC236}">
                <a16:creationId xmlns:a16="http://schemas.microsoft.com/office/drawing/2014/main" id="{C4BFE889-6850-47B1-BE55-7533EF89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05175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市场、目标、渠道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资产与规则引用</a:t>
            </a:r>
          </a:p>
        </p:txBody>
      </p:sp>
      <p:sp>
        <p:nvSpPr>
          <p:cNvPr id="24" name="textbox">
            <a:extLst xmlns:a="http://schemas.openxmlformats.org/drawingml/2006/main">
              <a:ext uri="{FF2B5EF4-FFF2-40B4-BE49-F238E27FC236}">
                <a16:creationId xmlns:a16="http://schemas.microsoft.com/office/drawing/2014/main" id="{689CD923-8EBA-4387-A5C2-1409F036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② 需求单</a:t>
            </a:r>
          </a:p>
        </p:txBody>
      </p:sp>
      <p:sp>
        <p:nvSpPr>
          <p:cNvPr id="25" name="textbox">
            <a:extLst xmlns:a="http://schemas.openxmlformats.org/drawingml/2006/main">
              <a:ext uri="{FF2B5EF4-FFF2-40B4-BE49-F238E27FC236}">
                <a16:creationId xmlns:a16="http://schemas.microsoft.com/office/drawing/2014/main" id="{2DBE2C5A-BC46-4F49-A995-B582442A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05175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目标、卖点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不可变资产与审核项</a:t>
            </a:r>
          </a:p>
        </p:txBody>
      </p:sp>
      <p:sp>
        <p:nvSpPr>
          <p:cNvPr id="27" name="textbox">
            <a:extLst xmlns:a="http://schemas.openxmlformats.org/drawingml/2006/main">
              <a:ext uri="{FF2B5EF4-FFF2-40B4-BE49-F238E27FC236}">
                <a16:creationId xmlns:a16="http://schemas.microsoft.com/office/drawing/2014/main" id="{23330FB1-920B-4316-916B-CF062719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1242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③ 审批</a:t>
            </a:r>
          </a:p>
          <a:p xmlns:a="http://schemas.openxmlformats.org/drawingml/2006/main">
            <a:pPr algn="ctr">
              <a:buNone/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批准？</a:t>
            </a:r>
          </a:p>
        </p:txBody>
      </p:sp>
      <p:sp>
        <p:nvSpPr>
          <p:cNvPr id="29" name="textbox">
            <a:extLst xmlns:a="http://schemas.openxmlformats.org/drawingml/2006/main">
              <a:ext uri="{FF2B5EF4-FFF2-40B4-BE49-F238E27FC236}">
                <a16:creationId xmlns:a16="http://schemas.microsoft.com/office/drawing/2014/main" id="{314C673C-AFAC-4727-BF23-5E4C02DC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71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④ 生成候选</a:t>
            </a:r>
          </a:p>
        </p:txBody>
      </p:sp>
      <p:sp>
        <p:nvSpPr>
          <p:cNvPr id="30" name="textbox">
            <a:extLst xmlns:a="http://schemas.openxmlformats.org/drawingml/2006/main">
              <a:ext uri="{FF2B5EF4-FFF2-40B4-BE49-F238E27FC236}">
                <a16:creationId xmlns:a16="http://schemas.microsoft.com/office/drawing/2014/main" id="{7D2A1FF8-0FFD-42ED-8C67-01010F67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05175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ComfyUI执行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保留候选编号</a:t>
            </a:r>
          </a:p>
        </p:txBody>
      </p:sp>
      <p:sp>
        <p:nvSpPr>
          <p:cNvPr id="32" name="textbox">
            <a:extLst xmlns:a="http://schemas.openxmlformats.org/drawingml/2006/main">
              <a:ext uri="{FF2B5EF4-FFF2-40B4-BE49-F238E27FC236}">
                <a16:creationId xmlns:a16="http://schemas.microsoft.com/office/drawing/2014/main" id="{21519AAC-9F21-4A09-9E4F-DD5A1C43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242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⑤ 逐候选预检</a:t>
            </a:r>
          </a:p>
          <a:p xmlns:a="http://schemas.openxmlformats.org/drawingml/2006/main">
            <a:pPr algn="ctr">
              <a:buNone/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合格？</a:t>
            </a:r>
          </a:p>
        </p:txBody>
      </p:sp>
      <p:sp>
        <p:nvSpPr>
          <p:cNvPr id="34" name="textbox">
            <a:extLst xmlns:a="http://schemas.openxmlformats.org/drawingml/2006/main">
              <a:ext uri="{FF2B5EF4-FFF2-40B4-BE49-F238E27FC236}">
                <a16:creationId xmlns:a16="http://schemas.microsoft.com/office/drawing/2014/main" id="{098507D8-DCC4-428B-A448-AFD7B1F9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12420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⑥ 人工审核</a:t>
            </a:r>
          </a:p>
          <a:p xmlns:a="http://schemas.openxmlformats.org/drawingml/2006/main">
            <a:pPr algn="ctr">
              <a:buNone/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通过？</a:t>
            </a:r>
          </a:p>
        </p:txBody>
      </p:sp>
      <p:sp>
        <p:nvSpPr>
          <p:cNvPr id="36" name="textbox">
            <a:extLst xmlns:a="http://schemas.openxmlformats.org/drawingml/2006/main">
              <a:ext uri="{FF2B5EF4-FFF2-40B4-BE49-F238E27FC236}">
                <a16:creationId xmlns:a16="http://schemas.microsoft.com/office/drawing/2014/main" id="{436CF679-55B9-4B6B-B18A-F812D352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718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⑦ 确认采用</a:t>
            </a:r>
          </a:p>
        </p:txBody>
      </p:sp>
      <p:sp>
        <p:nvSpPr>
          <p:cNvPr id="37" name="textbox">
            <a:extLst xmlns:a="http://schemas.openxmlformats.org/drawingml/2006/main">
              <a:ext uri="{FF2B5EF4-FFF2-40B4-BE49-F238E27FC236}">
                <a16:creationId xmlns:a16="http://schemas.microsoft.com/office/drawing/2014/main" id="{51D48B7B-E8E4-4C9F-9BCE-BF37BECA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05175"/>
            <a:ext cx="142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所选候选版本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采用记录</a:t>
            </a:r>
          </a:p>
        </p:txBody>
      </p:sp>
      <p:sp>
        <p:nvSpPr>
          <p:cNvPr id="56" name="textbox">
            <a:extLst xmlns:a="http://schemas.openxmlformats.org/drawingml/2006/main">
              <a:ext uri="{FF2B5EF4-FFF2-40B4-BE49-F238E27FC236}">
                <a16:creationId xmlns:a16="http://schemas.microsoft.com/office/drawing/2014/main" id="{A26EB79E-9CA8-47A4-B71B-9728793A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924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批准</a:t>
            </a:r>
          </a:p>
        </p:txBody>
      </p:sp>
      <p:sp>
        <p:nvSpPr>
          <p:cNvPr id="57" name="textbox">
            <a:extLst xmlns:a="http://schemas.openxmlformats.org/drawingml/2006/main">
              <a:ext uri="{FF2B5EF4-FFF2-40B4-BE49-F238E27FC236}">
                <a16:creationId xmlns:a16="http://schemas.microsoft.com/office/drawing/2014/main" id="{459B2E7E-3091-4D69-A12A-90490827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924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合格</a:t>
            </a:r>
          </a:p>
        </p:txBody>
      </p:sp>
      <p:sp>
        <p:nvSpPr>
          <p:cNvPr id="58" name="textbox">
            <a:extLst xmlns:a="http://schemas.openxmlformats.org/drawingml/2006/main">
              <a:ext uri="{FF2B5EF4-FFF2-40B4-BE49-F238E27FC236}">
                <a16:creationId xmlns:a16="http://schemas.microsoft.com/office/drawing/2014/main" id="{67CA628C-EE46-498F-9F79-21D5D7B1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241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通过</a:t>
            </a:r>
          </a:p>
        </p:txBody>
      </p:sp>
      <p:sp>
        <p:nvSpPr>
          <p:cNvPr id="59" name="textbox">
            <a:extLst xmlns:a="http://schemas.openxmlformats.org/drawingml/2006/main">
              <a:ext uri="{FF2B5EF4-FFF2-40B4-BE49-F238E27FC236}">
                <a16:creationId xmlns:a16="http://schemas.microsoft.com/office/drawing/2014/main" id="{1146CA92-2CF5-49F4-9D90-3C0AD895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0" name="textbox">
            <a:extLst xmlns:a="http://schemas.openxmlformats.org/drawingml/2006/main">
              <a:ext uri="{FF2B5EF4-FFF2-40B4-BE49-F238E27FC236}">
                <a16:creationId xmlns:a16="http://schemas.microsoft.com/office/drawing/2014/main" id="{B364A403-02C4-4DF0-9D1C-0CCCF103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95800"/>
            <a:ext cx="186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需求 JP-001 v1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资产 CHAR-050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日本规则 v0.3</a:t>
            </a:r>
          </a:p>
        </p:txBody>
      </p:sp>
      <p:sp>
        <p:nvSpPr>
          <p:cNvPr id="61" name="textbox">
            <a:extLst xmlns:a="http://schemas.openxmlformats.org/drawingml/2006/main">
              <a:ext uri="{FF2B5EF4-FFF2-40B4-BE49-F238E27FC236}">
                <a16:creationId xmlns:a16="http://schemas.microsoft.com/office/drawing/2014/main" id="{3AA886BD-43DC-4B84-A2A0-9C67570E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1338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62" name="textbox">
            <a:extLst xmlns:a="http://schemas.openxmlformats.org/drawingml/2006/main">
              <a:ext uri="{FF2B5EF4-FFF2-40B4-BE49-F238E27FC236}">
                <a16:creationId xmlns:a16="http://schemas.microsoft.com/office/drawing/2014/main" id="{880F1943-9551-4A87-BF0C-67CCC109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486275"/>
            <a:ext cx="1466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候选编号与版本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预检与审核记录</a:t>
            </a:r>
          </a:p>
          <a:p xmlns:a="http://schemas.openxmlformats.org/drawingml/2006/main">
            <a:pPr algn="l">
              <a:buNone/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采用状态</a:t>
            </a:r>
          </a:p>
        </p:txBody>
      </p:sp>
      <p:sp>
        <p:nvSpPr>
          <p:cNvPr id="68" name="textbox">
            <a:extLst xmlns:a="http://schemas.openxmlformats.org/drawingml/2006/main">
              <a:ext uri="{FF2B5EF4-FFF2-40B4-BE49-F238E27FC236}">
                <a16:creationId xmlns:a16="http://schemas.microsoft.com/office/drawing/2014/main" id="{CA65B050-3D3E-4A6F-8411-EE1E47C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14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13" b="1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13" b="1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rPr>
              <a:t>未批准：修改需求</a:t>
            </a:r>
          </a:p>
        </p:txBody>
      </p:sp>
      <p:sp>
        <p:nvSpPr>
          <p:cNvPr id="70" name="textbox">
            <a:extLst xmlns:a="http://schemas.openxmlformats.org/drawingml/2006/main">
              <a:ext uri="{FF2B5EF4-FFF2-40B4-BE49-F238E27FC236}">
                <a16:creationId xmlns:a16="http://schemas.microsoft.com/office/drawing/2014/main" id="{E74769DB-C76F-4D74-AE0E-AE294E00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7675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新版本 / 重新生成</a:t>
            </a:r>
          </a:p>
        </p:txBody>
      </p:sp>
      <p:sp>
        <p:nvSpPr>
          <p:cNvPr id="71" name="textbox">
            <a:extLst xmlns:a="http://schemas.openxmlformats.org/drawingml/2006/main">
              <a:ext uri="{FF2B5EF4-FFF2-40B4-BE49-F238E27FC236}">
                <a16:creationId xmlns:a16="http://schemas.microsoft.com/office/drawing/2014/main" id="{FAAC3C19-442F-456C-B692-4E001CA8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9107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保留上一版与修改原因</a:t>
            </a:r>
          </a:p>
        </p:txBody>
      </p:sp>
      <p:sp>
        <p:nvSpPr>
          <p:cNvPr id="77" name="textbox">
            <a:extLst xmlns:a="http://schemas.openxmlformats.org/drawingml/2006/main">
              <a:ext uri="{FF2B5EF4-FFF2-40B4-BE49-F238E27FC236}">
                <a16:creationId xmlns:a16="http://schemas.microsoft.com/office/drawing/2014/main" id="{85D89938-B198-4BD1-BB9D-C1A4A252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195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00" b="1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rPr>
              <a:t>不合格</a:t>
            </a:r>
          </a:p>
        </p:txBody>
      </p:sp>
      <p:sp>
        <p:nvSpPr>
          <p:cNvPr id="81" name="textbox">
            <a:extLst xmlns:a="http://schemas.openxmlformats.org/drawingml/2006/main">
              <a:ext uri="{FF2B5EF4-FFF2-40B4-BE49-F238E27FC236}">
                <a16:creationId xmlns:a16="http://schemas.microsoft.com/office/drawing/2014/main" id="{CA5FDD5A-70E3-444C-829D-08993DF6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0195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重新生成</a:t>
            </a:r>
          </a:p>
        </p:txBody>
      </p:sp>
      <p:sp>
        <p:nvSpPr>
          <p:cNvPr id="86" name="textbox">
            <a:extLst xmlns:a="http://schemas.openxmlformats.org/drawingml/2006/main">
              <a:ext uri="{FF2B5EF4-FFF2-40B4-BE49-F238E27FC236}">
                <a16:creationId xmlns:a16="http://schemas.microsoft.com/office/drawing/2014/main" id="{51FC0597-D489-4E6B-AF24-B034C73A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1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1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rPr>
              <a:t>退回修订</a:t>
            </a:r>
          </a:p>
        </p:txBody>
      </p:sp>
      <p:sp>
        <p:nvSpPr>
          <p:cNvPr id="92" name="textbox">
            <a:extLst xmlns:a="http://schemas.openxmlformats.org/drawingml/2006/main">
              <a:ext uri="{FF2B5EF4-FFF2-40B4-BE49-F238E27FC236}">
                <a16:creationId xmlns:a16="http://schemas.microsoft.com/office/drawing/2014/main" id="{8904010F-9BAF-4482-94BD-FBFB282C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442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13" b="0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13" b="0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B43F35"/>
                </a:solidFill>
                <a:latin typeface="Microsoft YaHei"/>
                <a:ea typeface="Microsoft YaHei"/>
                <a:cs typeface="Microsoft YaHei"/>
              </a:rPr>
              <a:t>驳回需求 + 原因，修改后重新审批</a:t>
            </a:r>
          </a:p>
        </p:txBody>
      </p:sp>
      <p:sp>
        <p:nvSpPr>
          <p:cNvPr id="93" name="textbox">
            <a:extLst xmlns:a="http://schemas.openxmlformats.org/drawingml/2006/main">
              <a:ext uri="{FF2B5EF4-FFF2-40B4-BE49-F238E27FC236}">
                <a16:creationId xmlns:a16="http://schemas.microsoft.com/office/drawing/2014/main" id="{DD240EF2-6F3E-4FD7-AE5A-7939FCF3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19675"/>
            <a:ext cx="19145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必审项未确认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停留审核页</a:t>
            </a:r>
          </a:p>
        </p:txBody>
      </p:sp>
      <p:sp>
        <p:nvSpPr>
          <p:cNvPr id="95" name="textbox">
            <a:extLst xmlns:a="http://schemas.openxmlformats.org/drawingml/2006/main">
              <a:ext uri="{FF2B5EF4-FFF2-40B4-BE49-F238E27FC236}">
                <a16:creationId xmlns:a16="http://schemas.microsoft.com/office/drawing/2014/main" id="{CC7F4D54-E8EF-4F86-829E-9EAAD4C4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24550"/>
            <a:ext cx="981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规则复用</a:t>
            </a:r>
          </a:p>
        </p:txBody>
      </p:sp>
      <p:sp>
        <p:nvSpPr>
          <p:cNvPr id="97" name="textbox">
            <a:extLst xmlns:a="http://schemas.openxmlformats.org/drawingml/2006/main">
              <a:ext uri="{FF2B5EF4-FFF2-40B4-BE49-F238E27FC236}">
                <a16:creationId xmlns:a16="http://schemas.microsoft.com/office/drawing/2014/main" id="{E6430781-A685-4EB8-97EE-4627F394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15025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审核意见</a:t>
            </a:r>
          </a:p>
        </p:txBody>
      </p:sp>
      <p:sp>
        <p:nvSpPr>
          <p:cNvPr id="98" name="textbox">
            <a:extLst xmlns:a="http://schemas.openxmlformats.org/drawingml/2006/main">
              <a:ext uri="{FF2B5EF4-FFF2-40B4-BE49-F238E27FC236}">
                <a16:creationId xmlns:a16="http://schemas.microsoft.com/office/drawing/2014/main" id="{7E35EEB4-E3B9-49C7-989E-8C477E8B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1912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问题类型 + 原因</a:t>
            </a:r>
          </a:p>
        </p:txBody>
      </p:sp>
      <p:sp>
        <p:nvSpPr>
          <p:cNvPr id="100" name="textbox">
            <a:extLst xmlns:a="http://schemas.openxmlformats.org/drawingml/2006/main">
              <a:ext uri="{FF2B5EF4-FFF2-40B4-BE49-F238E27FC236}">
                <a16:creationId xmlns:a16="http://schemas.microsoft.com/office/drawing/2014/main" id="{D27489F4-7121-45EF-93ED-A982340A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915025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待确认建议</a:t>
            </a:r>
          </a:p>
        </p:txBody>
      </p:sp>
      <p:sp>
        <p:nvSpPr>
          <p:cNvPr id="101" name="textbox">
            <a:extLst xmlns:a="http://schemas.openxmlformats.org/drawingml/2006/main">
              <a:ext uri="{FF2B5EF4-FFF2-40B4-BE49-F238E27FC236}">
                <a16:creationId xmlns:a16="http://schemas.microsoft.com/office/drawing/2014/main" id="{5EA92867-FDF9-43DE-8D9A-32DC43F6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1912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关联审核记录</a:t>
            </a:r>
          </a:p>
        </p:txBody>
      </p:sp>
      <p:sp>
        <p:nvSpPr>
          <p:cNvPr id="103" name="textbox">
            <a:extLst xmlns:a="http://schemas.openxmlformats.org/drawingml/2006/main">
              <a:ext uri="{FF2B5EF4-FFF2-40B4-BE49-F238E27FC236}">
                <a16:creationId xmlns:a16="http://schemas.microsoft.com/office/drawing/2014/main" id="{69084942-0087-432D-A17A-4859F6C3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915025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</p:txBody>
      </p:sp>
      <p:sp>
        <p:nvSpPr>
          <p:cNvPr id="104" name="textbox">
            <a:extLst xmlns:a="http://schemas.openxmlformats.org/drawingml/2006/main">
              <a:ext uri="{FF2B5EF4-FFF2-40B4-BE49-F238E27FC236}">
                <a16:creationId xmlns:a16="http://schemas.microsoft.com/office/drawing/2014/main" id="{5DA5E51D-0CC3-4C25-B9E2-15E3378B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形成新规则版本</a:t>
            </a:r>
          </a:p>
        </p:txBody>
      </p:sp>
      <p:sp>
        <p:nvSpPr>
          <p:cNvPr id="106" name="textbox">
            <a:extLst xmlns:a="http://schemas.openxmlformats.org/drawingml/2006/main">
              <a:ext uri="{FF2B5EF4-FFF2-40B4-BE49-F238E27FC236}">
                <a16:creationId xmlns:a16="http://schemas.microsoft.com/office/drawing/2014/main" id="{8DAA9F26-D8FD-4397-95EA-36FE9F80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915025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下轮引用</a:t>
            </a:r>
          </a:p>
        </p:txBody>
      </p:sp>
      <p:sp>
        <p:nvSpPr>
          <p:cNvPr id="107" name="textbox">
            <a:extLst xmlns:a="http://schemas.openxmlformats.org/drawingml/2006/main">
              <a:ext uri="{FF2B5EF4-FFF2-40B4-BE49-F238E27FC236}">
                <a16:creationId xmlns:a16="http://schemas.microsoft.com/office/drawing/2014/main" id="{CF8CE82F-D5B5-49FA-9C6B-C3712ABF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1912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已生效规则</a:t>
            </a:r>
          </a:p>
        </p:txBody>
      </p:sp>
      <p:sp>
        <p:nvSpPr>
          <p:cNvPr id="117" name="textbox">
            <a:extLst xmlns:a="http://schemas.openxmlformats.org/drawingml/2006/main">
              <a:ext uri="{FF2B5EF4-FFF2-40B4-BE49-F238E27FC236}">
                <a16:creationId xmlns:a16="http://schemas.microsoft.com/office/drawing/2014/main" id="{7884193D-0367-46C2-B041-B59FB166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95975"/>
            <a:ext cx="1828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正式发布</a:t>
            </a:r>
          </a:p>
        </p:txBody>
      </p:sp>
      <p:sp>
        <p:nvSpPr>
          <p:cNvPr id="118" name="textbox">
            <a:extLst xmlns:a="http://schemas.openxmlformats.org/drawingml/2006/main">
              <a:ext uri="{FF2B5EF4-FFF2-40B4-BE49-F238E27FC236}">
                <a16:creationId xmlns:a16="http://schemas.microsoft.com/office/drawing/2014/main" id="{C5ED452B-29DA-45E6-93F9-F2F304A8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1828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6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16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负责人另行确认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不随采用或规则自动发布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FF87D5E-F150-434B-9C13-76B95C3E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47725"/>
            <a:ext cx="1146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流程围绕一次美宣本土化任务展开：营销定义需求，AI负责结构化、生成与逐候选预检，专业审核由本土化和品牌负责人完成。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需求未批准时返回需求单，局部问题进入新版本修订，方向性问题则驳回需求。通过的版本由制作方确认采用，规则建议另行确认。</a:t>
            </a:r>
          </a:p>
        </p:txBody>
      </p:sp>
    </p:spTree>
    <p:extLst>
      <p:ext uri="{BB962C8B-B14F-4D97-AF65-F5344CB8AC3E}">
        <p14:creationId xmlns:p14="http://schemas.microsoft.com/office/powerpoint/2010/main" val="105482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40656-37AC-492F-9195-872E60CB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ComfyUI生成工作流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F4E56-51B3-4B99-AF0A-A1ADF543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5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Aniimo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4C80C-8536-4DE0-9F84-08DB15BD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C6CF56-717C-4F78-BED9-88695DD7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38200"/>
            <a:ext cx="11468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28323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8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323F"/>
                </a:solidFill>
                <a:latin typeface="Microsoft YaHei"/>
                <a:ea typeface="Microsoft YaHei"/>
                <a:cs typeface="Microsoft YaHei"/>
              </a:rPr>
              <a:t>同一角色参考进入日本、美国、沙特三条生成分支，通过提示词约束角色特征，调整背景、构图与辅助元素。</a:t>
            </a:r>
          </a:p>
          <a:p xmlns:a="http://schemas.openxmlformats.org/drawingml/2006/main">
            <a:pPr algn="l">
              <a:defRPr sz="1500" b="0">
                <a:solidFill>
                  <a:srgbClr val="28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323F"/>
                </a:solidFill>
                <a:latin typeface="Microsoft YaHei"/>
                <a:ea typeface="Microsoft YaHei"/>
                <a:cs typeface="Microsoft YaHei"/>
              </a:rPr>
              <a:t>Qwen图像编辑后放大并保存候选，再进入人工审核。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91207-BD68-4426-A62A-200959D7D0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2fb36038049ca"/>
          <a:stretch xmlns:a="http://schemas.openxmlformats.org/drawingml/2006/main"/>
        </p:blipFill>
        <p:spPr>
          <a:xfrm xmlns:a="http://schemas.openxmlformats.org/drawingml/2006/main">
            <a:off x="1788864" y="1438275"/>
            <a:ext cx="8614272" cy="5029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46EBB-E75F-43E3-B895-D998210F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7661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重点浅底">
            <a:extLst xmlns:a="http://schemas.openxmlformats.org/drawingml/2006/main">
              <a:ext uri="{FF2B5EF4-FFF2-40B4-BE49-F238E27FC236}">
                <a16:creationId xmlns:a16="http://schemas.microsoft.com/office/drawing/2014/main" id="{F6384DB8-EE10-455E-9E8A-09561111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28975"/>
            <a:ext cx="3695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</a:ln>
        </p:spPr>
      </p:sp>
      <p:sp>
        <p:nvSpPr>
          <p:cNvPr id="44" name="重点浅底">
            <a:extLst xmlns:a="http://schemas.openxmlformats.org/drawingml/2006/main">
              <a:ext uri="{FF2B5EF4-FFF2-40B4-BE49-F238E27FC236}">
                <a16:creationId xmlns:a16="http://schemas.microsoft.com/office/drawing/2014/main" id="{80DFD47C-D2B9-4DD1-A847-A4436FE3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62425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FFEC31-795C-43CD-B0E3-3CD2D31F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7334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8D5EF0-1CCC-4F4F-A3F0-C27D0189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95700" y="1581150"/>
            <a:ext cx="0" cy="469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6931B8-6C3F-42C6-B5BB-B9444DF57E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7f3ade0cf94a04"/>
          <a:stretch xmlns:a="http://schemas.openxmlformats.org/drawingml/2006/main"/>
        </p:blipFill>
        <p:spPr>
          <a:xfrm xmlns:a="http://schemas.openxmlformats.org/drawingml/2006/main">
            <a:off x="361950" y="1990725"/>
            <a:ext cx="3048000" cy="1202724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BBAB5D-9260-4788-A709-8A665AC717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29503a5bf4e38"/>
          <a:stretch xmlns:a="http://schemas.openxmlformats.org/drawingml/2006/main"/>
        </p:blipFill>
        <p:spPr>
          <a:xfrm xmlns:a="http://schemas.openxmlformats.org/drawingml/2006/main">
            <a:off x="361950" y="3248025"/>
            <a:ext cx="3048000" cy="626076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E1DDC4-D900-4DF3-96B9-5ED5DAB4CB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8c856cd2847a8"/>
          <a:stretch xmlns:a="http://schemas.openxmlformats.org/drawingml/2006/main"/>
        </p:blipFill>
        <p:spPr>
          <a:xfrm xmlns:a="http://schemas.openxmlformats.org/drawingml/2006/main">
            <a:off x="361950" y="3848100"/>
            <a:ext cx="3048000" cy="247135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0E509F-43BF-4D46-AB78-064D5338C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27e0ce6054971"/>
          <a:stretch xmlns:a="http://schemas.openxmlformats.org/drawingml/2006/main"/>
        </p:blipFill>
        <p:spPr>
          <a:xfrm xmlns:a="http://schemas.openxmlformats.org/drawingml/2006/main">
            <a:off x="361950" y="4600575"/>
            <a:ext cx="2762250" cy="1810808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47C854-E37A-4DAC-A12A-771D13AE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14700" y="42100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87D697-491D-447F-8F7B-763C0E82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829050" y="2362200"/>
            <a:ext cx="0" cy="1847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2E3DEF-269A-42D6-9EC6-9B8F2098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29050" y="236220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43C0B4-F0C5-45E7-9F57-17967CBC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940283" y="2362200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EECEF4-E509-492B-92B6-13C8BB37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940283" y="2335809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649C18-08FC-42D5-BBE3-AF2913456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046ec2c4049c9"/>
          <a:stretch xmlns:a="http://schemas.openxmlformats.org/drawingml/2006/main"/>
        </p:blipFill>
        <p:spPr>
          <a:xfrm xmlns:a="http://schemas.openxmlformats.org/drawingml/2006/main">
            <a:off x="3962400" y="1990725"/>
            <a:ext cx="2381250" cy="611784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91CC27-4266-4E08-94D4-9282E6C3E1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b0db7aef3480a"/>
          <a:stretch xmlns:a="http://schemas.openxmlformats.org/drawingml/2006/main"/>
        </p:blipFill>
        <p:spPr>
          <a:xfrm xmlns:a="http://schemas.openxmlformats.org/drawingml/2006/main">
            <a:off x="6591300" y="1990725"/>
            <a:ext cx="2381250" cy="611784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213FB1-8A93-4238-96DE-A59B5D43C6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03b8227184d6b"/>
          <a:stretch xmlns:a="http://schemas.openxmlformats.org/drawingml/2006/main"/>
        </p:blipFill>
        <p:spPr>
          <a:xfrm xmlns:a="http://schemas.openxmlformats.org/drawingml/2006/main">
            <a:off x="9220200" y="1990725"/>
            <a:ext cx="2381250" cy="611784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9CAA92-E59C-4E1E-A478-084BDBBC76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615846f18d45be"/>
          <a:stretch xmlns:a="http://schemas.openxmlformats.org/drawingml/2006/main"/>
        </p:blipFill>
        <p:spPr>
          <a:xfrm xmlns:a="http://schemas.openxmlformats.org/drawingml/2006/main">
            <a:off x="3962400" y="3600450"/>
            <a:ext cx="7848600" cy="516355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9BEC04-4CEC-4FAD-9B28-90C0A77129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967f89c724950"/>
          <a:stretch xmlns:a="http://schemas.openxmlformats.org/drawingml/2006/main"/>
        </p:blipFill>
        <p:spPr>
          <a:xfrm xmlns:a="http://schemas.openxmlformats.org/drawingml/2006/main">
            <a:off x="3962400" y="4171950"/>
            <a:ext cx="7848600" cy="1394159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603A55-B9BC-42F9-A2A2-5F6529A643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30af55562472b"/>
          <a:stretch xmlns:a="http://schemas.openxmlformats.org/drawingml/2006/main"/>
        </p:blipFill>
        <p:spPr>
          <a:xfrm xmlns:a="http://schemas.openxmlformats.org/drawingml/2006/main">
            <a:off x="3962400" y="5619750"/>
            <a:ext cx="7848600" cy="567991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D86F76-DE85-4C9C-A95D-FF0A207DA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1558a8a2a49ce"/>
          <a:stretch xmlns:a="http://schemas.openxmlformats.org/drawingml/2006/main"/>
        </p:blipFill>
        <p:spPr>
          <a:xfrm xmlns:a="http://schemas.openxmlformats.org/drawingml/2006/main">
            <a:off x="3962400" y="6067425"/>
            <a:ext cx="7848600" cy="430296"/>
          </a:xfrm>
          <a:prstGeom xmlns:a="http://schemas.openxmlformats.org/drawingml/2006/main" prst="rect">
            <a:avLst/>
          </a:prstGeom>
        </p:spPr>
      </p:pic>
      <p:sp>
        <p:nvSpPr>
          <p:cNvPr id="2" name="textbox">
            <a:extLst xmlns:a="http://schemas.openxmlformats.org/drawingml/2006/main">
              <a:ext uri="{FF2B5EF4-FFF2-40B4-BE49-F238E27FC236}">
                <a16:creationId xmlns:a16="http://schemas.microsoft.com/office/drawing/2014/main" id="{359DAC56-CC07-46FD-A6B9-6F65B639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需求审批与候选生成</a:t>
            </a:r>
          </a:p>
        </p:txBody>
      </p:sp>
      <p:sp>
        <p:nvSpPr>
          <p:cNvPr id="3" name="textbox">
            <a:extLst xmlns:a="http://schemas.openxmlformats.org/drawingml/2006/main">
              <a:ext uri="{FF2B5EF4-FFF2-40B4-BE49-F238E27FC236}">
                <a16:creationId xmlns:a16="http://schemas.microsoft.com/office/drawing/2014/main" id="{A0B1B1F2-7827-460A-BB23-AF5D4112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5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Aniimo</a:t>
            </a:r>
          </a:p>
        </p:txBody>
      </p:sp>
      <p:sp>
        <p:nvSpPr>
          <p:cNvPr id="5" name="textbox">
            <a:extLst xmlns:a="http://schemas.openxmlformats.org/drawingml/2006/main">
              <a:ext uri="{FF2B5EF4-FFF2-40B4-BE49-F238E27FC236}">
                <a16:creationId xmlns:a16="http://schemas.microsoft.com/office/drawing/2014/main" id="{1208C653-413D-4806-8403-DC67D140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textbox">
            <a:extLst xmlns:a="http://schemas.openxmlformats.org/drawingml/2006/main">
              <a:ext uri="{FF2B5EF4-FFF2-40B4-BE49-F238E27FC236}">
                <a16:creationId xmlns:a16="http://schemas.microsoft.com/office/drawing/2014/main" id="{9BA4E80E-885B-49E3-B273-71C23ACF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6097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1  需求与资产引用</a:t>
            </a:r>
          </a:p>
        </p:txBody>
      </p:sp>
      <p:sp>
        <p:nvSpPr>
          <p:cNvPr id="10" name="textbox">
            <a:extLst xmlns:a="http://schemas.openxmlformats.org/drawingml/2006/main">
              <a:ext uri="{FF2B5EF4-FFF2-40B4-BE49-F238E27FC236}">
                <a16:creationId xmlns:a16="http://schemas.microsoft.com/office/drawing/2014/main" id="{ED5A3EC4-9128-4D2F-B02F-6D4AE152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2195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2  已批准需求单 · v1</a:t>
            </a:r>
          </a:p>
        </p:txBody>
      </p:sp>
      <p:sp>
        <p:nvSpPr>
          <p:cNvPr id="13" name="textbox">
            <a:extLst xmlns:a="http://schemas.openxmlformats.org/drawingml/2006/main">
              <a:ext uri="{FF2B5EF4-FFF2-40B4-BE49-F238E27FC236}">
                <a16:creationId xmlns:a16="http://schemas.microsoft.com/office/drawing/2014/main" id="{BEFC55D1-6EF7-492E-85FC-B44A3B89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609725"/>
            <a:ext cx="784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3  候选选择与送审</a:t>
            </a:r>
          </a:p>
        </p:txBody>
      </p:sp>
      <p:sp>
        <p:nvSpPr>
          <p:cNvPr id="18" name="textbox">
            <a:extLst xmlns:a="http://schemas.openxmlformats.org/drawingml/2006/main">
              <a:ext uri="{FF2B5EF4-FFF2-40B4-BE49-F238E27FC236}">
                <a16:creationId xmlns:a16="http://schemas.microsoft.com/office/drawing/2014/main" id="{63CEF223-64FF-437C-A1B4-9586389E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6050"/>
            <a:ext cx="7839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生成约束：保持形态、配色与比例。可调整背景与辅助元素，不新增角色能力，不生成画内文案。</a:t>
            </a:r>
          </a:p>
        </p:txBody>
      </p:sp>
      <p:sp>
        <p:nvSpPr>
          <p:cNvPr id="22" name="textbox">
            <a:extLst xmlns:a="http://schemas.openxmlformats.org/drawingml/2006/main">
              <a:ext uri="{FF2B5EF4-FFF2-40B4-BE49-F238E27FC236}">
                <a16:creationId xmlns:a16="http://schemas.microsoft.com/office/drawing/2014/main" id="{AB64F73D-9048-4DFD-A208-12AE020B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86125"/>
            <a:ext cx="1095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13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13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已选 A</a:t>
            </a:r>
          </a:p>
        </p:txBody>
      </p:sp>
      <p:sp>
        <p:nvSpPr>
          <p:cNvPr id="23" name="textbox">
            <a:extLst xmlns:a="http://schemas.openxmlformats.org/drawingml/2006/main">
              <a:ext uri="{FF2B5EF4-FFF2-40B4-BE49-F238E27FC236}">
                <a16:creationId xmlns:a16="http://schemas.microsoft.com/office/drawing/2014/main" id="{04D23955-3E25-418E-9F6F-95556C3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86125"/>
            <a:ext cx="352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C 单独修正，A / B 可继续送审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44B23B-E0BA-4A47-8A7E-2F3369B5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47725"/>
            <a:ext cx="1146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需求单明确日本市场、预约页点击目标、CHAR-050资产及可调整范围，以JP-001 v1的批准版本进入生成。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工作台保留需求、资产和规则引用，制作人员比较候选、修正尺寸异常，并送审选中且预检合格的版本。</a:t>
            </a:r>
          </a:p>
        </p:txBody>
      </p:sp>
    </p:spTree>
    <p:extLst>
      <p:ext uri="{BB962C8B-B14F-4D97-AF65-F5344CB8AC3E}">
        <p14:creationId xmlns:p14="http://schemas.microsoft.com/office/powerpoint/2010/main" val="1174380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重点浅底">
            <a:extLst xmlns:a="http://schemas.openxmlformats.org/drawingml/2006/main">
              <a:ext uri="{FF2B5EF4-FFF2-40B4-BE49-F238E27FC236}">
                <a16:creationId xmlns:a16="http://schemas.microsoft.com/office/drawing/2014/main" id="{F8EC200B-A61A-434B-B868-E9BE189D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743575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0">
            <a:noFill/>
          </a:ln>
        </p:spPr>
      </p:sp>
      <p:sp>
        <p:nvSpPr>
          <p:cNvPr id="52" name="重点浅底">
            <a:extLst xmlns:a="http://schemas.openxmlformats.org/drawingml/2006/main">
              <a:ext uri="{FF2B5EF4-FFF2-40B4-BE49-F238E27FC236}">
                <a16:creationId xmlns:a16="http://schemas.microsoft.com/office/drawing/2014/main" id="{49077E46-3CF7-45C1-B6C7-E03DC0A0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438275"/>
            <a:ext cx="115824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6DE9D-0B6F-4FBE-8CA8-98391247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7334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A918EB-FD62-4A26-8B54-5B69484C4C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0100772d24f1d"/>
          <a:stretch xmlns:a="http://schemas.openxmlformats.org/drawingml/2006/main"/>
        </p:blipFill>
        <p:spPr>
          <a:xfrm xmlns:a="http://schemas.openxmlformats.org/drawingml/2006/main">
            <a:off x="361950" y="2686050"/>
            <a:ext cx="6724650" cy="675977"/>
          </a:xfrm>
          <a:prstGeom xmlns:a="http://schemas.openxmlformats.org/drawingml/2006/main" prst="rect">
            <a:avLst/>
          </a:prstGeom>
        </p:spPr>
      </p:pic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06875D-82E1-4E54-937C-0D349D2D75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d0f44b1fd4453"/>
          <a:stretch xmlns:a="http://schemas.openxmlformats.org/drawingml/2006/main"/>
        </p:blipFill>
        <p:spPr>
          <a:xfrm xmlns:a="http://schemas.openxmlformats.org/drawingml/2006/main">
            <a:off x="361950" y="3409950"/>
            <a:ext cx="6724650" cy="790102"/>
          </a:xfrm>
          <a:prstGeom xmlns:a="http://schemas.openxmlformats.org/drawingml/2006/main" prst="rect">
            <a:avLst/>
          </a:prstGeom>
        </p:spPr>
      </p:pic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319309-4B4D-41F1-B33C-B5EE3A314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dc3ee19594d83"/>
          <a:stretch xmlns:a="http://schemas.openxmlformats.org/drawingml/2006/main"/>
        </p:blipFill>
        <p:spPr>
          <a:xfrm xmlns:a="http://schemas.openxmlformats.org/drawingml/2006/main">
            <a:off x="361950" y="4229100"/>
            <a:ext cx="3333750" cy="1903791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5C2E86-6A09-4D6B-928D-8F90986153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eb6ff98ef4830"/>
          <a:stretch xmlns:a="http://schemas.openxmlformats.org/drawingml/2006/main"/>
        </p:blipFill>
        <p:spPr>
          <a:xfrm xmlns:a="http://schemas.openxmlformats.org/drawingml/2006/main">
            <a:off x="3895725" y="4229100"/>
            <a:ext cx="3190875" cy="502117"/>
          </a:xfrm>
          <a:prstGeom xmlns:a="http://schemas.openxmlformats.org/drawingml/2006/main" prst="rect">
            <a:avLst/>
          </a:prstGeom>
        </p:spPr>
      </p:pic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556390-6EF4-4ADB-964C-EC00A9FC7C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3b0a9120b466a"/>
          <a:stretch xmlns:a="http://schemas.openxmlformats.org/drawingml/2006/main"/>
        </p:blipFill>
        <p:spPr>
          <a:xfrm xmlns:a="http://schemas.openxmlformats.org/drawingml/2006/main">
            <a:off x="3895725" y="4876800"/>
            <a:ext cx="3190875" cy="647893"/>
          </a:xfrm>
          <a:prstGeom xmlns:a="http://schemas.openxmlformats.org/drawingml/2006/main" prst="rect">
            <a:avLst/>
          </a:prstGeom>
        </p:spPr>
      </p:pic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6C22AC-032C-4ACF-90AA-B30E1C4A69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9a01a992946c4"/>
          <a:stretch xmlns:a="http://schemas.openxmlformats.org/drawingml/2006/main"/>
        </p:blipFill>
        <p:spPr>
          <a:xfrm xmlns:a="http://schemas.openxmlformats.org/drawingml/2006/main">
            <a:off x="3895725" y="5715000"/>
            <a:ext cx="3190875" cy="348243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2108FD-B1AE-4D9E-A267-A35E4259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53300" y="1943100"/>
            <a:ext cx="0" cy="412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AD7ECF-D585-44D6-AD4A-C743601C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52675"/>
            <a:ext cx="1257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候选版本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F83227-2F49-45FB-866B-C8E904C9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52675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审核记录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D6FCC9-1B9B-44EA-8C4A-AA86CC1A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33700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处理结果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5B617F-D3E9-4D63-B192-C10C0996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28900"/>
            <a:ext cx="1352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JP-A01 v1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0C2C6A-DEEB-49DA-8995-3C5FBE65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289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R-001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DFAAF3-7A94-4288-8478-BA15FF9B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337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背景干扰，退回修订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FA6DE3-5D5C-450E-909F-C2C4D509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91425" y="3314700"/>
            <a:ext cx="0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BF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B0876B-17F9-4B80-9D4A-FF939589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91425" y="3448050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2D0F0F-2ECE-40F7-8271-D14F7991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565034" y="354023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7D560D-104B-435A-B713-3BA8A928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91425" y="354023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CD77FB-0967-4CC6-B1DD-865A3EA7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432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JP-A01 v2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208D73-1547-427D-A6A1-ACE2B52E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43275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R-002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5E9222-F1B9-42F6-BE14-19A6187E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3981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预检通过、复审通过 → 确认采用</a:t>
            </a:r>
          </a:p>
        </p:txBody>
      </p:sp>
      <p:pic>
        <p:nvPic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DD0418-ABEE-4CE5-8DD4-3956DF70C3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0d5c71eda493b"/>
          <a:stretch xmlns:a="http://schemas.openxmlformats.org/drawingml/2006/main"/>
        </p:blipFill>
        <p:spPr>
          <a:xfrm xmlns:a="http://schemas.openxmlformats.org/drawingml/2006/main">
            <a:off x="7562850" y="4505325"/>
            <a:ext cx="2743200" cy="1277303"/>
          </a:xfrm>
          <a:prstGeom xmlns:a="http://schemas.openxmlformats.org/drawingml/2006/main" prst="rect">
            <a:avLst/>
          </a:prstGeom>
        </p:spPr>
      </p:pic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27BA55-9B93-4E0B-B052-3695025D31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4810431944e1e"/>
          <a:stretch xmlns:a="http://schemas.openxmlformats.org/drawingml/2006/main"/>
        </p:blipFill>
        <p:spPr>
          <a:xfrm xmlns:a="http://schemas.openxmlformats.org/drawingml/2006/main">
            <a:off x="10467975" y="5019675"/>
            <a:ext cx="1362075" cy="287104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99468C1-18B1-451D-817C-D8C21644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6267450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2" name="textbox">
            <a:extLst xmlns:a="http://schemas.openxmlformats.org/drawingml/2006/main">
              <a:ext uri="{FF2B5EF4-FFF2-40B4-BE49-F238E27FC236}">
                <a16:creationId xmlns:a16="http://schemas.microsoft.com/office/drawing/2014/main" id="{FA6E9329-803E-45F9-A88C-5CB66F95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人工审核、修订与采用</a:t>
            </a:r>
          </a:p>
        </p:txBody>
      </p:sp>
      <p:sp>
        <p:nvSpPr>
          <p:cNvPr id="3" name="textbox">
            <a:extLst xmlns:a="http://schemas.openxmlformats.org/drawingml/2006/main">
              <a:ext uri="{FF2B5EF4-FFF2-40B4-BE49-F238E27FC236}">
                <a16:creationId xmlns:a16="http://schemas.microsoft.com/office/drawing/2014/main" id="{DFECF514-7242-4637-BCA2-2282ECCF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5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Aniimo</a:t>
            </a:r>
          </a:p>
        </p:txBody>
      </p:sp>
      <p:sp>
        <p:nvSpPr>
          <p:cNvPr id="5" name="textbox">
            <a:extLst xmlns:a="http://schemas.openxmlformats.org/drawingml/2006/main">
              <a:ext uri="{FF2B5EF4-FFF2-40B4-BE49-F238E27FC236}">
                <a16:creationId xmlns:a16="http://schemas.microsoft.com/office/drawing/2014/main" id="{CCEBF535-AB4B-460D-964F-E43BFA98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box">
            <a:extLst xmlns:a="http://schemas.openxmlformats.org/drawingml/2006/main">
              <a:ext uri="{FF2B5EF4-FFF2-40B4-BE49-F238E27FC236}">
                <a16:creationId xmlns:a16="http://schemas.microsoft.com/office/drawing/2014/main" id="{FAD91360-2150-4619-A55B-51B30B3C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04950"/>
            <a:ext cx="11468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88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JP-A01 v1 → R-001退回 → JP-A01 v2 → R-002复审 → 确认采用</a:t>
            </a:r>
          </a:p>
        </p:txBody>
      </p:sp>
      <p:sp>
        <p:nvSpPr>
          <p:cNvPr id="7" name="textbox">
            <a:extLst xmlns:a="http://schemas.openxmlformats.org/drawingml/2006/main">
              <a:ext uri="{FF2B5EF4-FFF2-40B4-BE49-F238E27FC236}">
                <a16:creationId xmlns:a16="http://schemas.microsoft.com/office/drawing/2014/main" id="{0754D9D4-A318-48BA-BABC-6E4AC31B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43100"/>
            <a:ext cx="630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前：v1 审核与退回</a:t>
            </a:r>
          </a:p>
        </p:txBody>
      </p:sp>
      <p:sp>
        <p:nvSpPr>
          <p:cNvPr id="9" name="textbox">
            <a:extLst xmlns:a="http://schemas.openxmlformats.org/drawingml/2006/main">
              <a:ext uri="{FF2B5EF4-FFF2-40B4-BE49-F238E27FC236}">
                <a16:creationId xmlns:a16="http://schemas.microsoft.com/office/drawing/2014/main" id="{25EA4D4B-0600-4D40-9A78-1292E83C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14575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候选 JP-A01 v1   ·   审核 R-001</a:t>
            </a:r>
          </a:p>
        </p:txBody>
      </p:sp>
      <p:sp>
        <p:nvSpPr>
          <p:cNvPr id="14" name="textbox">
            <a:extLst xmlns:a="http://schemas.openxmlformats.org/drawingml/2006/main">
              <a:ext uri="{FF2B5EF4-FFF2-40B4-BE49-F238E27FC236}">
                <a16:creationId xmlns:a16="http://schemas.microsoft.com/office/drawing/2014/main" id="{D9B5F12E-BC39-4E05-AF3C-20EEFFC9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43100"/>
            <a:ext cx="426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后：v2 修改、复审与采用</a:t>
            </a:r>
          </a:p>
        </p:txBody>
      </p:sp>
      <p:sp>
        <p:nvSpPr>
          <p:cNvPr id="17" name="textbox">
            <a:extLst xmlns:a="http://schemas.openxmlformats.org/drawingml/2006/main">
              <a:ext uri="{FF2B5EF4-FFF2-40B4-BE49-F238E27FC236}">
                <a16:creationId xmlns:a16="http://schemas.microsoft.com/office/drawing/2014/main" id="{152AD58C-E368-4375-B9D7-33B9AFCE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81450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v2 修改：减少背景遮挡，保持角色形态与配色。</a:t>
            </a:r>
          </a:p>
        </p:txBody>
      </p:sp>
      <p:sp>
        <p:nvSpPr>
          <p:cNvPr id="20" name="textbox">
            <a:extLst xmlns:a="http://schemas.openxmlformats.org/drawingml/2006/main">
              <a:ext uri="{FF2B5EF4-FFF2-40B4-BE49-F238E27FC236}">
                <a16:creationId xmlns:a16="http://schemas.microsoft.com/office/drawing/2014/main" id="{E95C177D-0DF1-4548-B3E4-7FCFFC1F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5353050"/>
            <a:ext cx="1362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38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238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确认后</a:t>
            </a:r>
          </a:p>
        </p:txBody>
      </p:sp>
      <p:sp>
        <p:nvSpPr>
          <p:cNvPr id="21" name="textbox">
            <a:extLst xmlns:a="http://schemas.openxmlformats.org/drawingml/2006/main">
              <a:ext uri="{FF2B5EF4-FFF2-40B4-BE49-F238E27FC236}">
                <a16:creationId xmlns:a16="http://schemas.microsoft.com/office/drawing/2014/main" id="{CF65A42B-2476-456C-BCD2-593C16E1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800725"/>
            <a:ext cx="426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8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8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采用 JP-A01 v2 · 对应 R-002</a:t>
            </a:r>
          </a:p>
          <a:p xmlns:a="http://schemas.openxmlformats.org/drawingml/2006/main">
            <a:pPr algn="l">
              <a:buNone/>
              <a:defRPr sz="138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发布状态：未发布</a:t>
            </a:r>
          </a:p>
        </p:txBody>
      </p:sp>
      <p:sp>
        <p:nvSpPr>
          <p:cNvPr id="23" name="textbox">
            <a:extLst xmlns:a="http://schemas.openxmlformats.org/drawingml/2006/main">
              <a:ext uri="{FF2B5EF4-FFF2-40B4-BE49-F238E27FC236}">
                <a16:creationId xmlns:a16="http://schemas.microsoft.com/office/drawing/2014/main" id="{7F5845E0-CFFB-4CF9-AFB1-3788259F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40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规则建议</a:t>
            </a:r>
          </a:p>
        </p:txBody>
      </p:sp>
      <p:sp>
        <p:nvSpPr>
          <p:cNvPr id="24" name="textbox">
            <a:extLst xmlns:a="http://schemas.openxmlformats.org/drawingml/2006/main">
              <a:ext uri="{FF2B5EF4-FFF2-40B4-BE49-F238E27FC236}">
                <a16:creationId xmlns:a16="http://schemas.microsoft.com/office/drawing/2014/main" id="{E553C60E-4E4E-425D-A255-D3F26666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400800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R-001 意见 → 待确认建议</a:t>
            </a:r>
          </a:p>
        </p:txBody>
      </p:sp>
      <p:sp>
        <p:nvSpPr>
          <p:cNvPr id="25" name="textbox">
            <a:extLst xmlns:a="http://schemas.openxmlformats.org/drawingml/2006/main">
              <a:ext uri="{FF2B5EF4-FFF2-40B4-BE49-F238E27FC236}">
                <a16:creationId xmlns:a16="http://schemas.microsoft.com/office/drawing/2014/main" id="{2AB00B6E-69E4-411C-A0EB-E5FDBF1B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334125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75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负责人确认后才形成 v0.4；确认前不生效</a:t>
            </a:r>
            <a:r>
              <a:rPr sz="1275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FC5B6-0938-42B3-91A6-A1B8A944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47725"/>
            <a:ext cx="11468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审核人员围绕JP-A01 v1记录背景干扰及修改要求，R-001随退回操作进入修订单。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修订保留旧版，生成v2后重新预检并完成R-002复审，再确认采用。可复用的审核意见另行形成待确认规则建议。</a:t>
            </a:r>
          </a:p>
        </p:txBody>
      </p:sp>
    </p:spTree>
    <p:extLst>
      <p:ext uri="{BB962C8B-B14F-4D97-AF65-F5344CB8AC3E}">
        <p14:creationId xmlns:p14="http://schemas.microsoft.com/office/powerpoint/2010/main" val="41576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E6617-C91B-4A94-B2D2-5E293D41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产品原型｜任务到生成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EE969-BC99-41A8-8D62-9851AB45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5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Aniimo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5CF1E-B50A-4AF2-AE38-32DDC5FF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A384F-E5BC-4957-8766-1A1BDC4A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B0F10-A267-4504-8D00-26583A78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03  生成工作台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01FB0-5684-44DC-96F7-9A8A845B8E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3c59292594cc6"/>
          <a:stretch xmlns:a="http://schemas.openxmlformats.org/drawingml/2006/main"/>
        </p:blipFill>
        <p:spPr>
          <a:xfrm xmlns:a="http://schemas.openxmlformats.org/drawingml/2006/main">
            <a:off x="361950" y="1162050"/>
            <a:ext cx="6381750" cy="48926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2A1A5-3894-4338-9253-BC099DAB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57250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01  任务管理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555476-4D03-4AC6-A43A-DA2B7F19CA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d859f35e44f80"/>
          <a:stretch xmlns:a="http://schemas.openxmlformats.org/drawingml/2006/main"/>
        </p:blipFill>
        <p:spPr>
          <a:xfrm xmlns:a="http://schemas.openxmlformats.org/drawingml/2006/main">
            <a:off x="7029450" y="1162050"/>
            <a:ext cx="4800600" cy="161620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B7C59-E507-4A90-90D7-9E2E1D8C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6227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02  本土化需求单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0DA35-7896-49D7-95D4-4CAA4CE071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95903c7334038"/>
          <a:stretch xmlns:a="http://schemas.openxmlformats.org/drawingml/2006/main"/>
        </p:blipFill>
        <p:spPr>
          <a:xfrm xmlns:a="http://schemas.openxmlformats.org/drawingml/2006/main">
            <a:off x="7029450" y="3305175"/>
            <a:ext cx="4800600" cy="31203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385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7EC31-7733-465F-BAC5-A8CF6912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产品原型｜审核与修订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15A55-233A-41BB-87FE-75050BC0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5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Aniimo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0BF95-CBA1-437E-80A8-B554B880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334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7EC86-5CCC-4104-9D5E-34873967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E7586-2DEE-48B8-821B-B6148B03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572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04  人工审核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FACCB-9933-4DF4-91D3-9C98931EC3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4c68eb80048b4"/>
          <a:stretch xmlns:a="http://schemas.openxmlformats.org/drawingml/2006/main"/>
        </p:blipFill>
        <p:spPr>
          <a:xfrm xmlns:a="http://schemas.openxmlformats.org/drawingml/2006/main">
            <a:off x="361950" y="1162050"/>
            <a:ext cx="6381750" cy="48926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2D0BB-84CB-495D-AA2F-AC7EFEC4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857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05  修订与定稿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606B0-8EB6-4629-A10D-8B679553B3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722a2667b46f9"/>
          <a:stretch xmlns:a="http://schemas.openxmlformats.org/drawingml/2006/main"/>
        </p:blipFill>
        <p:spPr>
          <a:xfrm xmlns:a="http://schemas.openxmlformats.org/drawingml/2006/main">
            <a:off x="7448550" y="1162050"/>
            <a:ext cx="4286250" cy="26860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E7D82-ACEB-419E-915D-7AF30689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624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06  市场规则库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B7817-00F0-4FD5-8C67-360DAB30C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530f66a504a81"/>
          <a:stretch xmlns:a="http://schemas.openxmlformats.org/drawingml/2006/main"/>
        </p:blipFill>
        <p:spPr>
          <a:xfrm xmlns:a="http://schemas.openxmlformats.org/drawingml/2006/main">
            <a:off x="7448550" y="4267200"/>
            <a:ext cx="4286250" cy="21788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931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重点浅底">
            <a:extLst xmlns:a="http://schemas.openxmlformats.org/drawingml/2006/main">
              <a:ext uri="{FF2B5EF4-FFF2-40B4-BE49-F238E27FC236}">
                <a16:creationId xmlns:a16="http://schemas.microsoft.com/office/drawing/2014/main" id="{12C5C9CC-C526-4B84-A06D-734D3289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52725"/>
            <a:ext cx="190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0">
            <a:noFill/>
          </a:ln>
        </p:spPr>
      </p:sp>
      <p:sp>
        <p:nvSpPr>
          <p:cNvPr id="106" name="重点浅底">
            <a:extLst xmlns:a="http://schemas.openxmlformats.org/drawingml/2006/main">
              <a:ext uri="{FF2B5EF4-FFF2-40B4-BE49-F238E27FC236}">
                <a16:creationId xmlns:a16="http://schemas.microsoft.com/office/drawing/2014/main" id="{BB3CE9B3-6094-417C-A7B8-236C6C71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10125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C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972550-FB7F-4C36-B2B1-66BE93F7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733425"/>
            <a:ext cx="1146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BEF7B30-ECD0-40A2-998F-DF072C4E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925" y="1371600"/>
            <a:ext cx="0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AB09529-2613-4477-8E7B-35548E27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16534" y="264488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2E35E73-AD8E-4CB2-A2B8-3C2198D4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2925" y="264488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5E80391-DE7D-4011-A201-56D5ECC8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925" y="3190875"/>
            <a:ext cx="0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C94B8F-FDE0-4F63-8E7E-0E43C8F5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16534" y="470228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40D5696-CF67-4439-B846-D5F67F6E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42925" y="470228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A378F44-F946-43A2-AAFF-975ABECF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1371600"/>
            <a:ext cx="0" cy="1323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87768CB-19E9-4383-ADA9-193370CF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641109" y="264488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020F2E3-20F4-4E0A-A955-06869A41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0" y="264488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90EED9C-F55E-4734-9594-9B616FFF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3190875"/>
            <a:ext cx="0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435CDE3-4AB9-49E6-84BA-8290D545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641109" y="470228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8850499-AE38-451B-8816-713CCE0F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667500" y="4702283"/>
            <a:ext cx="26391" cy="506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D6BF3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03BE177-3B62-47C6-A682-030538BA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72200" y="971550"/>
            <a:ext cx="0" cy="5667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B"/>
            </a:solidFill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0D23CE-7543-4671-9615-6DF2E065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925" y="524827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D6BF3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4FF92B1-C916-48DE-A694-1BB91708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2925" y="6762750"/>
            <a:ext cx="5457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D6BF3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09F3860-60AF-4438-8EB8-DDEF326D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000750" y="876300"/>
            <a:ext cx="0" cy="5886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D6BF3"/>
            </a:solidFill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9728609-0E35-437A-9238-53B67904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00750" y="8763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D6BF3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9ADFA77-FF97-4DBE-8AF3-7D85A7BD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616808" y="876300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D6BF3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DF4AF5-CB08-498C-99B7-E48D7A77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616808" y="849909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D6BF3"/>
            </a:solidFill>
          </a:ln>
        </p:spPr>
      </p:sp>
      <p:pic>
        <p:nvPic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187D6A3-EE48-43B0-9032-4C7D37339F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8680466a34148"/>
          <a:stretch xmlns:a="http://schemas.openxmlformats.org/drawingml/2006/main"/>
        </p:blipFill>
        <p:spPr>
          <a:xfrm xmlns:a="http://schemas.openxmlformats.org/drawingml/2006/main">
            <a:off x="885825" y="6096000"/>
            <a:ext cx="2667000" cy="592667"/>
          </a:xfrm>
          <a:prstGeom xmlns:a="http://schemas.openxmlformats.org/drawingml/2006/main" prst="rect">
            <a:avLst/>
          </a:prstGeom>
        </p:spPr>
      </p:pic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4F3B71A-2019-4A0E-A5EB-5D9BDA0D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24850" y="2352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88428CC-4079-49B5-8552-984B74DC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540858" y="2352675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7A403D0-5205-4568-8BEE-79E0365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540858" y="2326284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B8A0F60-2A59-4723-96E8-A2344DF4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15525" y="235267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B1FD553-77C1-4BE6-A856-6FEB0C7E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0131533" y="2352675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B32365F-43EC-4385-90FC-0737F0A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31533" y="2326284"/>
            <a:ext cx="50692" cy="263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D6BF3"/>
            </a:solidFill>
          </a:ln>
        </p:spPr>
      </p:sp>
      <p:pic>
        <p:nvPic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120606B-C5CD-48D2-83CD-435B31D26F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a146a01c3409a"/>
          <a:stretch xmlns:a="http://schemas.openxmlformats.org/drawingml/2006/main"/>
        </p:blipFill>
        <p:spPr>
          <a:xfrm xmlns:a="http://schemas.openxmlformats.org/drawingml/2006/main">
            <a:off x="7010400" y="4048125"/>
            <a:ext cx="2857500" cy="44965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9856A-ED60-4D81-B8D3-D8B16CF4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190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整体工作流程回顾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29286-0FCD-440E-9527-BE3E77AF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52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Aniimo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42531-482E-4E18-8732-47CD194E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65151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buNone/>
              <a:def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40974-A997-4CB5-8330-B3E22634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9715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3A3DC-2FFC-4A00-879E-0E75E39B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971550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业务与产品拆解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B9009-3D5C-4249-85AE-895DC59E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0650"/>
            <a:ext cx="500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拆解角色收集、陪伴与联结合体的传播价值，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区分宣传受众与工具使用者，确定多市场美宣任务。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据此选择研究市场和素材分析维度。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A2AFB-CD67-4C88-8B1C-B0E531BE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90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B31D4-9AD6-42B8-B157-CF258753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9082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三市场公开素材研究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02469-5788-433F-A2AA-18AF753D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09925"/>
            <a:ext cx="500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整理日本、美国、沙特研究组共60条公开素材，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对比卖点、语言、渠道与表现方式。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将差异归入本土化矩阵，形成需求依据。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A6A38-0B6D-4A13-834A-D9A9C367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8482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EAC63-E1DE-4445-8116-65570C81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84822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本土化需求整理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3BFDC-C149-4497-A403-CDBD2C6F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267325"/>
            <a:ext cx="5000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把市场差异写入卖点、语言和渠道字段，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将角色形态、配色与比例设为不可变约束。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批准的需求版本成为生成和审核的共同依据。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041035-E66A-4E4C-A33D-85B4B28D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97155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8448FA-03C8-43D2-A101-7BD0D0EF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971550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业务流程与责任分工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907777-9E98-41E0-9C54-DEBA38CD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9065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串联需求、生成、预检、审核与采用，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明确营销、AI与审核负责人的处理权限。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分别设计未批准、预检失败和审核退回的路径。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7AF44A4-65A9-4D0F-967F-A45252FC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908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79C4F0-BA7A-49CA-9F94-A900E32E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9082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核心页面原型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886FE7-6E27-46E5-8D79-1E19BD1B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09925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将流程落实到需求单、生成工作台和审核页面，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用版本引用、选中状态与问题入口连接操作。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资产约束同时进入生成配置和审核检查。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C9A43D-0AC4-4632-B46C-4C76F21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8482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C3BD3C-87B0-4251-891A-362A3975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48225"/>
            <a:ext cx="485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审核、修订与版本管理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D4784F-F765-4650-A5B7-5A54FFDD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67325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将R-001的背景干扰意见转成修订任务，保留v1。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JP-A01 v2重新预检，经R-002复审后确认采用。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可复用意见先成为待确认规则建议，再由人确认。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ED0A8A-2A9D-494E-BBA1-6E52BAF5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383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宣传受众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9F8052-8337-4BBD-A74E-050FD44E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38375"/>
            <a:ext cx="1971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收集 / 陪伴 / 探索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F1D819-0BAA-4B28-96CD-E35711BB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66975"/>
            <a:ext cx="490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使用角色：营销、制作、本土化审核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78DFCA-B64A-41C7-9D04-1179CF8E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57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日本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BE76F2-692F-4336-BE65-CF52FB18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576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角色关系、日语语气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0C5B74-81F7-4974-A309-BF28C7E9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672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美国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BD7293-E054-4CDE-92CD-36467C1F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672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能力探索、玩法证据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CF11EA-CEE4-4ACF-A343-DEE04495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沙特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B9F92C-1577-492B-BAD4-A6A469A9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767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伙伴关系、阿语与文化审核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6F7199-0844-4ED0-9DA0-5511350D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38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需求审批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2CD96F-927B-44AD-A648-484B9618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38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AI执行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9A22AA0-BC44-4A8E-AD2E-C439D2D4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38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buNone/>
              <a:def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2A3FBD7-D3F6-4F76-B726-D5C3EDC0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14600"/>
            <a:ext cx="466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通过 / 退回修订 / 驳回需求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B9B23E2-65ED-498C-AD69-97CF71B9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14850"/>
            <a:ext cx="4657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问题类型和处理意见接入修订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7E2F1F7-EC51-4573-BC9C-689C1749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1150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3B63"/>
                </a:solidFill>
                <a:latin typeface="Microsoft YaHei"/>
                <a:ea typeface="Microsoft YaHei"/>
                <a:cs typeface="Microsoft YaHei"/>
              </a:rPr>
              <a:t>JP-A01 v1 → v2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76D77E-8D28-42CF-9FD3-BF14E646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6115050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2C34"/>
                </a:solidFill>
                <a:latin typeface="Microsoft YaHei"/>
                <a:ea typeface="Microsoft YaHei"/>
                <a:cs typeface="Microsoft YaHei"/>
              </a:rPr>
              <a:t>R-001退回 → R-002复审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5A18192-C971-4955-BD08-CB896D89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4293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13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buNone/>
              <a:defRPr sz="1313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0">
                <a:solidFill>
                  <a:srgbClr val="2D6BF3"/>
                </a:solidFill>
                <a:latin typeface="Microsoft YaHei"/>
                <a:ea typeface="Microsoft YaHei"/>
                <a:cs typeface="Microsoft YaHei"/>
              </a:rPr>
              <a:t>待确认建议 → 负责人确认 → 规则生效</a:t>
            </a:r>
          </a:p>
        </p:txBody>
      </p:sp>
    </p:spTree>
    <p:extLst>
      <p:ext uri="{BB962C8B-B14F-4D97-AF65-F5344CB8AC3E}">
        <p14:creationId xmlns:p14="http://schemas.microsoft.com/office/powerpoint/2010/main" val="335944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2026-10-13T17:04:03.3280000Z</dcterms:created>
  <dcterms:modified xsi:type="dcterms:W3CDTF">2026-10-13T17:04:03.3280000Z</dcterms:modified>
</coreProperties>
</file>